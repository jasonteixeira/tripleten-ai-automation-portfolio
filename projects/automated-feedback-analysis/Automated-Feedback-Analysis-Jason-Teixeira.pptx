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CUSTOMER SUCCESS · AUTOMATION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1B1D24"/>
                </a:solidFill>
                <a:latin typeface="Arial"/>
              </a:rPr>
              <a:t>Automated Customer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1B1D24"/>
                </a:solidFill>
                <a:latin typeface="Arial"/>
              </a:rPr>
              <a:t>Feedback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B5E6A"/>
                </a:solidFill>
                <a:latin typeface="Arial"/>
              </a:rPr>
              <a:t>Turning a pile of raw customer feedback into structured, real-time insight — so nothing slips through and unhappy customers get caught the same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B5BDB"/>
                </a:solidFill>
                <a:latin typeface="Arial"/>
              </a:rPr>
              <a:t>Google Forms   ·   Make   ·   Gemini 2.5 Flash   ·   Google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D98"/>
                </a:solidFill>
                <a:latin typeface="Arial"/>
              </a:rPr>
              <a:t>Prepared by Jason Teixeira  ·  Customer Success Manager (project scenario)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Feedback is only useful if you actually read it —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D24"/>
                </a:solidFill>
                <a:latin typeface="Arial"/>
              </a:rPr>
              <a:t>As the Customer Success Manager for a small online store, feedback comes in through a form and just sits in a spreadsheet. Reading every response by hand doesn't scale, and the responses that matter most — the angry ones — are exactly the ones you can't afford to miss for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83280"/>
            <a:ext cx="3291840" cy="137160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D24"/>
                </a:solidFill>
                <a:latin typeface="Arial"/>
              </a:rPr>
              <a:t>Slow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Manual reading means insights arrive late, if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383280"/>
            <a:ext cx="3291840" cy="137160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D24"/>
                </a:solidFill>
                <a:latin typeface="Arial"/>
              </a:rPr>
              <a:t>Inconsistent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Different people score the same message differently.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383280"/>
            <a:ext cx="3291840" cy="137160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35661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D24"/>
                </a:solidFill>
                <a:latin typeface="Arial"/>
              </a:rPr>
              <a:t>Risky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One overlooked complaint can turn into a public blow-up.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D24"/>
                </a:solidFill>
                <a:latin typeface="Arial"/>
              </a:rPr>
              <a:t>So I built a workflow that reads, classifies, and files every response automatically — and pings me the moment something goes negative.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WHAT I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One form in, structured insight out — no manual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074920" cy="123444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8716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3B5BDB"/>
                </a:solidFill>
                <a:latin typeface="Arial"/>
              </a:rPr>
              <a:t>Collect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B1D24"/>
                </a:solidFill>
                <a:latin typeface="Arial"/>
              </a:rPr>
              <a:t>Google Form → a satisfaction rating + free-text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074920" cy="123444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48716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3B5BDB"/>
                </a:solidFill>
                <a:latin typeface="Arial"/>
              </a:rPr>
              <a:t>Analyze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B1D24"/>
                </a:solidFill>
                <a:latin typeface="Arial"/>
              </a:rPr>
              <a:t>Gemini classifies sentiment and writes a 1-sentence summary.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5074920" cy="123444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9592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3B5BDB"/>
                </a:solidFill>
                <a:latin typeface="Arial"/>
              </a:rPr>
              <a:t>Store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B1D24"/>
                </a:solidFill>
                <a:latin typeface="Arial"/>
              </a:rPr>
              <a:t>Parsed results drop into Google Sheets with a timestamp.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074920" cy="123444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9592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3B5BDB"/>
                </a:solidFill>
                <a:latin typeface="Arial"/>
              </a:rPr>
              <a:t>Alert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B1D24"/>
                </a:solidFill>
                <a:latin typeface="Arial"/>
              </a:rPr>
              <a:t>Negative feedback triggers an instant email to 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The workflow,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5E6A"/>
                </a:solidFill>
                <a:latin typeface="Arial"/>
              </a:rPr>
              <a:t>Everything below runs inside one Make scenario, triggered automatically on each new form submission.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883" y="2651760"/>
            <a:ext cx="1965960" cy="1280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475" y="2816352"/>
            <a:ext cx="1636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B5BDB"/>
                </a:solidFill>
                <a:latin typeface="Consolas"/>
              </a:rPr>
              <a:t>TRIGGER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1D24"/>
                </a:solidFill>
                <a:latin typeface="Arial"/>
              </a:rPr>
              <a:t>Google Forms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5E6A"/>
                </a:solidFill>
                <a:latin typeface="Arial"/>
              </a:rPr>
              <a:t>New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3131" y="310896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A8D98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0875" y="2651760"/>
            <a:ext cx="1965960" cy="1280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5467" y="2816352"/>
            <a:ext cx="1636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B5BDB"/>
                </a:solidFill>
                <a:latin typeface="Consolas"/>
              </a:rPr>
              <a:t>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1D24"/>
                </a:solidFill>
                <a:latin typeface="Arial"/>
              </a:rPr>
              <a:t>Gemini 2.5 Flash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5E6A"/>
                </a:solidFill>
                <a:latin typeface="Arial"/>
              </a:rPr>
              <a:t>Classify + summarize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5123" y="310896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A8D98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867" y="2651760"/>
            <a:ext cx="1965960" cy="1280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7459" y="2816352"/>
            <a:ext cx="1636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B5BDB"/>
                </a:solidFill>
                <a:latin typeface="Consolas"/>
              </a:rPr>
              <a:t>PARSE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1D24"/>
                </a:solidFill>
                <a:latin typeface="Arial"/>
              </a:rPr>
              <a:t>JSON module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5E6A"/>
                </a:solidFill>
                <a:latin typeface="Arial"/>
              </a:rPr>
              <a:t>Extract 2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7115" y="310896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A8D98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4859" y="2651760"/>
            <a:ext cx="1965960" cy="1280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451" y="2816352"/>
            <a:ext cx="1636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B5BDB"/>
                </a:solidFill>
                <a:latin typeface="Consolas"/>
              </a:rPr>
              <a:t>STORE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1D24"/>
                </a:solidFill>
                <a:latin typeface="Arial"/>
              </a:rPr>
              <a:t>Google Sheets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5E6A"/>
                </a:solidFill>
                <a:latin typeface="Arial"/>
              </a:rPr>
              <a:t>Add a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9107" y="310896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A8D98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6851" y="2651760"/>
            <a:ext cx="1965960" cy="1280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1443" y="2816352"/>
            <a:ext cx="1636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B5BDB"/>
                </a:solidFill>
                <a:latin typeface="Consolas"/>
              </a:rPr>
              <a:t>ALERT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1D24"/>
                </a:solidFill>
                <a:latin typeface="Arial"/>
              </a:rPr>
              <a:t>Email (filter)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5E6A"/>
                </a:solidFill>
                <a:latin typeface="Arial"/>
              </a:rPr>
              <a:t>Only if Negative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80560"/>
            <a:ext cx="10515600" cy="868680"/>
          </a:xfrm>
          <a:prstGeom prst="roundRect">
            <a:avLst/>
          </a:prstGeom>
          <a:solidFill>
            <a:srgbClr val="EAEEFF"/>
          </a:solidFill>
          <a:ln w="1270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17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B5BDB"/>
                </a:solidFill>
                <a:latin typeface="Arial"/>
              </a:rPr>
              <a:t>[ SCREENSHOT ] </a:t>
            </a:r>
            <a:r>
              <a:rPr sz="1400" b="0">
                <a:solidFill>
                  <a:srgbClr val="1B1D24"/>
                </a:solidFill>
                <a:latin typeface="Arial"/>
              </a:rPr>
              <a:t>Add your full Make scenario canvas here — the five connected modules. That one image covers most of the Automation Workflow rubric 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THE AI PART — AND THE CATCH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Getting clean JSON was the real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1D24"/>
                </a:solidFill>
                <a:latin typeface="Arial"/>
              </a:rPr>
              <a:t>The starter prompt returned the right idea but kept wrapping it in a Markdown code block and sometimes added a sentence first — the parser choked on both. Fixing that meant constraining the output hard: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2651760"/>
          </a:xfrm>
          <a:prstGeom prst="roundRect">
            <a:avLst/>
          </a:prstGeom>
          <a:solidFill>
            <a:srgbClr val="1C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You are a customer-feedback analyst. Analyze the feedback below and return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ONLY one JSON object. No Markdown, no code fences, no text before or after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Use exactly these two keys: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  "sentiment": one of "Positive", "Neutral", or "Negative"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  "summary"  : a 1-sentence, third-person recap of the feedback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If the feedback is empty, return: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  {"sentiment":"Neutral","summary":"No feedback text was provided."}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7E6E2"/>
                </a:solidFill>
                <a:latin typeface="Consolas"/>
              </a:rPr>
              <a:t>Feedback: {{feedback_text}}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5E6A"/>
                </a:solidFill>
                <a:latin typeface="Arial"/>
              </a:rPr>
              <a:t>Also set temperature to 0.2 for consistency and (where the module allows) response type to JSON. After that, the parser read every response cleanly.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Clean, analyzable data in 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5E6A"/>
                </a:solidFill>
                <a:latin typeface="Arial"/>
              </a:rPr>
              <a:t>Each run adds one tidy row. Columns: Timestamp · Satisfaction · Feedback · Sentiment ·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D24"/>
                </a:solidFill>
                <a:latin typeface="Arial"/>
              </a:rPr>
              <a:t>Very satisfied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6888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Smoothest checkout I've had, arrived early…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468880"/>
            <a:ext cx="1554480" cy="384048"/>
          </a:xfrm>
          <a:prstGeom prst="roundRect">
            <a:avLst/>
          </a:prstGeom>
          <a:solidFill>
            <a:srgbClr val="F2F1EC"/>
          </a:solidFill>
          <a:ln w="12700">
            <a:solidFill>
              <a:srgbClr val="2F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49631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F9E6B"/>
                </a:solidFill>
                <a:latin typeface="Arial"/>
              </a:rPr>
              <a:t>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3580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D24"/>
                </a:solidFill>
                <a:latin typeface="Arial"/>
              </a:rPr>
              <a:t>Satisfied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3580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Good product, setup slow but support helped…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035808"/>
            <a:ext cx="1554480" cy="384048"/>
          </a:xfrm>
          <a:prstGeom prst="roundRect">
            <a:avLst/>
          </a:prstGeom>
          <a:solidFill>
            <a:srgbClr val="F2F1EC"/>
          </a:solidFill>
          <a:ln w="12700">
            <a:solidFill>
              <a:srgbClr val="2F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063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F9E6B"/>
                </a:solidFill>
                <a:latin typeface="Arial"/>
              </a:rPr>
              <a:t>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0273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D24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602736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Does what it says. Nothing amazing…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602736"/>
            <a:ext cx="1554480" cy="384048"/>
          </a:xfrm>
          <a:prstGeom prst="roundRect">
            <a:avLst/>
          </a:prstGeom>
          <a:solidFill>
            <a:srgbClr val="F2F1EC"/>
          </a:solidFill>
          <a:ln w="12700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363016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8A1E"/>
                </a:solidFill>
                <a:latin typeface="Arial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966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D24"/>
                </a:solidFill>
                <a:latin typeface="Arial"/>
              </a:rPr>
              <a:t>Unsatisfied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16966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App keeps logging me out every few minutes…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169664"/>
            <a:ext cx="1554480" cy="384048"/>
          </a:xfrm>
          <a:prstGeom prst="roundRect">
            <a:avLst/>
          </a:prstGeom>
          <a:solidFill>
            <a:srgbClr val="F2F1EC"/>
          </a:solidFill>
          <a:ln w="12700">
            <a:solidFill>
              <a:srgbClr val="CF4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419709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F4759"/>
                </a:solidFill>
                <a:latin typeface="Arial"/>
              </a:rPr>
              <a:t>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36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D24"/>
                </a:solidFill>
                <a:latin typeface="Arial"/>
              </a:rPr>
              <a:t>Very unsatisfied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73659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Charged twice, no reply in 4 days, want refund…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736592"/>
            <a:ext cx="1554480" cy="384048"/>
          </a:xfrm>
          <a:prstGeom prst="roundRect">
            <a:avLst/>
          </a:prstGeom>
          <a:solidFill>
            <a:srgbClr val="F2F1EC"/>
          </a:solidFill>
          <a:ln w="12700">
            <a:solidFill>
              <a:srgbClr val="CF4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476402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F4759"/>
                </a:solidFill>
                <a:latin typeface="Arial"/>
              </a:rPr>
              <a:t>Negative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532120"/>
            <a:ext cx="10515600" cy="731520"/>
          </a:xfrm>
          <a:prstGeom prst="roundRect">
            <a:avLst/>
          </a:prstGeom>
          <a:solidFill>
            <a:srgbClr val="EAEEFF"/>
          </a:solidFill>
          <a:ln w="1270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B5BDB"/>
                </a:solidFill>
                <a:latin typeface="Arial"/>
              </a:rPr>
              <a:t>[ SCREENSHOT ] </a:t>
            </a:r>
            <a:r>
              <a:rPr sz="1400" b="0">
                <a:solidFill>
                  <a:srgbClr val="1B1D24"/>
                </a:solidFill>
                <a:latin typeface="Arial"/>
              </a:rPr>
              <a:t>Add your real Google Sheet with the Sentiment / Summary / Timestamp columns filled.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What the data told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5E6A"/>
                </a:solidFill>
                <a:latin typeface="Arial"/>
              </a:rPr>
              <a:t>Across 7 test submissions: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1D24"/>
                </a:solidFill>
                <a:latin typeface="Arial"/>
              </a:rPr>
              <a:t>Positive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368296"/>
            <a:ext cx="6858000" cy="292608"/>
          </a:xfrm>
          <a:prstGeom prst="roundRect">
            <a:avLst/>
          </a:prstGeom>
          <a:solidFill>
            <a:srgbClr val="EFEEE9"/>
          </a:solidFill>
          <a:ln w="12700">
            <a:solidFill>
              <a:srgbClr val="EF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8880" y="2368296"/>
            <a:ext cx="4114800" cy="292608"/>
          </a:xfrm>
          <a:prstGeom prst="roundRect">
            <a:avLst/>
          </a:prstGeom>
          <a:solidFill>
            <a:srgbClr val="2F9E6B"/>
          </a:solidFill>
          <a:ln w="12700">
            <a:solidFill>
              <a:srgbClr val="2F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2331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5E6A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1D24"/>
                </a:solidFill>
                <a:latin typeface="Arial"/>
              </a:rPr>
              <a:t>Neutral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935224"/>
            <a:ext cx="6858000" cy="292608"/>
          </a:xfrm>
          <a:prstGeom prst="roundRect">
            <a:avLst/>
          </a:prstGeom>
          <a:solidFill>
            <a:srgbClr val="EFEEE9"/>
          </a:solidFill>
          <a:ln w="12700">
            <a:solidFill>
              <a:srgbClr val="EF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8880" y="2935224"/>
            <a:ext cx="2743200" cy="292608"/>
          </a:xfrm>
          <a:prstGeom prst="roundRect">
            <a:avLst/>
          </a:prstGeom>
          <a:solidFill>
            <a:srgbClr val="C98A1E"/>
          </a:solidFill>
          <a:ln w="12700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898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5E6A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1D24"/>
                </a:solidFill>
                <a:latin typeface="Arial"/>
              </a:rPr>
              <a:t>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502152"/>
            <a:ext cx="6858000" cy="292608"/>
          </a:xfrm>
          <a:prstGeom prst="roundRect">
            <a:avLst/>
          </a:prstGeom>
          <a:solidFill>
            <a:srgbClr val="EFEEE9"/>
          </a:solidFill>
          <a:ln w="12700">
            <a:solidFill>
              <a:srgbClr val="EF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68880" y="3502152"/>
            <a:ext cx="2743200" cy="292608"/>
          </a:xfrm>
          <a:prstGeom prst="roundRect">
            <a:avLst/>
          </a:prstGeom>
          <a:solidFill>
            <a:srgbClr val="CF4759"/>
          </a:solidFill>
          <a:ln w="12700">
            <a:solidFill>
              <a:srgbClr val="CF4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346557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5E6A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D24"/>
                </a:solidFill>
                <a:latin typeface="Arial"/>
              </a:rPr>
              <a:t>The useful part wasn't the split — it was the pattern in the negatives. Both unhappy customers were describing the same class of problem: billing and account reliability (a double-charge with no reply, and repeated forced logouts). That's a concrete, prioritizable signal — not “people are unhappy,” but “fix the billing response time and the session bug first.”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OPTIONAL · SHIPPED IT ANYWAY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Real-time alerts for negative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D24"/>
                </a:solidFill>
                <a:latin typeface="Arial"/>
              </a:rPr>
              <a:t>I added a filter after the parse step: if sentiment = “Negative”, Make emails me the summary and a link to the sheet. That turns a passive log into an early-warning system — the whole point of catching an upset customer while I can still fix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10515600" cy="1371600"/>
          </a:xfrm>
          <a:prstGeom prst="roundRect">
            <a:avLst/>
          </a:prstGeom>
          <a:solidFill>
            <a:srgbClr val="1C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7E6E2"/>
                </a:solidFill>
                <a:latin typeface="Consolas"/>
              </a:rPr>
              <a:t>Filter:  sentiment  Equal to  Negative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7E6E2"/>
                </a:solidFill>
                <a:latin typeface="Consolas"/>
              </a:rPr>
              <a:t>Subject: ⚠ Negative feedback just came in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7E6E2"/>
                </a:solidFill>
                <a:latin typeface="Consolas"/>
              </a:rPr>
              <a:t>Body:    {{summary}}   ·   View all responses → {{sheet_link}}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10515600" cy="731520"/>
          </a:xfrm>
          <a:prstGeom prst="roundRect">
            <a:avLst/>
          </a:prstGeom>
          <a:solidFill>
            <a:srgbClr val="EAEEFF"/>
          </a:solidFill>
          <a:ln w="1270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B5BDB"/>
                </a:solidFill>
                <a:latin typeface="Arial"/>
              </a:rPr>
              <a:t>[ SCREENSHOT — optional ] </a:t>
            </a:r>
            <a:r>
              <a:rPr sz="1400" b="0">
                <a:solidFill>
                  <a:srgbClr val="1B1D24"/>
                </a:solidFill>
                <a:latin typeface="Arial"/>
              </a:rPr>
              <a:t>The alert email in your inbox — worth including for the bonus rubric 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HONEST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What I'd improve with more time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B5BDB"/>
                </a:solidFill>
                <a:latin typeface="Arial"/>
              </a:rPr>
              <a:t>•  </a:t>
            </a:r>
            <a:r>
              <a:rPr sz="1500" b="0">
                <a:solidFill>
                  <a:srgbClr val="1B1D24"/>
                </a:solidFill>
                <a:latin typeface="Arial"/>
              </a:rPr>
              <a:t>Post to Slack, not just email — route negatives into a #customer-alerts channel so the whole team sees them, with a reaction to track who's handling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B5BDB"/>
                </a:solidFill>
                <a:latin typeface="Arial"/>
              </a:rPr>
              <a:t>•  </a:t>
            </a:r>
            <a:r>
              <a:rPr sz="1500" b="0">
                <a:solidFill>
                  <a:srgbClr val="1B1D24"/>
                </a:solidFill>
                <a:latin typeface="Arial"/>
              </a:rPr>
              <a:t>Add a topic tag — have the AI also return a category (billing / shipping / bug / praise) so the sheet can be filtered and trended, not just read.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B5BDB"/>
                </a:solidFill>
                <a:latin typeface="Arial"/>
              </a:rPr>
              <a:t>•  </a:t>
            </a:r>
            <a:r>
              <a:rPr sz="1500" b="0">
                <a:solidFill>
                  <a:srgbClr val="1B1D24"/>
                </a:solidFill>
                <a:latin typeface="Arial"/>
              </a:rPr>
              <a:t>Fallback logic — if Gemini returns malformed JSON, catch it and write “needs review” instead of erroring out.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B5BDB"/>
                </a:solidFill>
                <a:latin typeface="Arial"/>
              </a:rPr>
              <a:t>•  </a:t>
            </a:r>
            <a:r>
              <a:rPr sz="1500" b="0">
                <a:solidFill>
                  <a:srgbClr val="1B1D24"/>
                </a:solidFill>
                <a:latin typeface="Arial"/>
              </a:rPr>
              <a:t>A live dashboard — a Looker Studio chart on the sheet showing sentiment over time.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B5BDB"/>
                </a:solidFill>
                <a:latin typeface="Arial"/>
              </a:rPr>
              <a:t>•  </a:t>
            </a:r>
            <a:r>
              <a:rPr sz="1500" b="0">
                <a:solidFill>
                  <a:srgbClr val="1B1D24"/>
                </a:solidFill>
                <a:latin typeface="Arial"/>
              </a:rPr>
              <a:t>Priority scoring — flag “Very unsatisfied + Negative” as high-priority so the loudest alarms rise to the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5029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8D98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5BDB"/>
                </a:solidFill>
                <a:latin typeface="Arial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1D24"/>
                </a:solidFill>
                <a:latin typeface="Arial"/>
              </a:rPr>
              <a:t>Links &amp;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100584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B1D24"/>
                </a:solidFill>
                <a:latin typeface="Arial"/>
              </a:rPr>
              <a:t>Make scenario blueprint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Exported JSON, shared “anyone with the link can view”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786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5BDB"/>
                </a:solidFill>
                <a:latin typeface="Consolas"/>
              </a:rPr>
              <a:t>[ paste link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10515600" cy="100584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B1D24"/>
                </a:solidFill>
                <a:latin typeface="Arial"/>
              </a:rPr>
              <a:t>Google Sheet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5E6A"/>
                </a:solidFill>
                <a:latin typeface="Arial"/>
              </a:rPr>
              <a:t>Live test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8130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5BDB"/>
                </a:solidFill>
                <a:latin typeface="Consolas"/>
              </a:rPr>
              <a:t>[ paste link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D98"/>
                </a:solidFill>
                <a:latin typeface="Arial"/>
              </a:rPr>
              <a:t>Thanks for reviewing. Everything above runs hands-off — one form submission, and the insight files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