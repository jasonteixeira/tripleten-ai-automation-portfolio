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Inter ExtraBold"/>
      <p:bold r:id="rId18"/>
      <p:boldItalic r:id="rId19"/>
    </p:embeddedFont>
    <p:embeddedFont>
      <p:font typeface="Inter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regular.fntdata"/><Relationship Id="rId11" Type="http://schemas.openxmlformats.org/officeDocument/2006/relationships/slide" Target="slides/slide6.xml"/><Relationship Id="rId22" Type="http://schemas.openxmlformats.org/officeDocument/2006/relationships/font" Target="fonts/InterMedium-italic.fntdata"/><Relationship Id="rId10" Type="http://schemas.openxmlformats.org/officeDocument/2006/relationships/slide" Target="slides/slide5.xml"/><Relationship Id="rId21" Type="http://schemas.openxmlformats.org/officeDocument/2006/relationships/font" Target="fonts/Inter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InterMedium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ExtraBold-boldItalic.fntdata"/><Relationship Id="rId6" Type="http://schemas.openxmlformats.org/officeDocument/2006/relationships/slide" Target="slides/slide1.xml"/><Relationship Id="rId18" Type="http://schemas.openxmlformats.org/officeDocument/2006/relationships/font" Target="fonts/Inter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e7cf68d7d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e7cf68d7d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e7cf68d7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e7cf68d7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6dc00fcd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6dc00fcd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e7cf68d7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6e7cf68d7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e7cf68d7d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e7cf68d7d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e7cf68d7d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e7cf68d7d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144cad2245e4573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144cad2245e4573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144cad2245e4573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144cad2245e4573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(4 people)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2F1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8F6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 txBox="1"/>
          <p:nvPr>
            <p:ph idx="4294967295" type="ctrTitle"/>
          </p:nvPr>
        </p:nvSpPr>
        <p:spPr>
          <a:xfrm>
            <a:off x="64008" y="638300"/>
            <a:ext cx="8520600" cy="2135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8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Automation of Invoice Reporting with UiPath</a:t>
            </a:r>
            <a:endParaRPr sz="58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Jason Teixeira</a:t>
            </a:r>
            <a:endParaRPr sz="6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83" name="Google Shape;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8"/>
          <p:cNvSpPr txBox="1"/>
          <p:nvPr>
            <p:ph idx="4294967295" type="subTitle"/>
          </p:nvPr>
        </p:nvSpPr>
        <p:spPr>
          <a:xfrm>
            <a:off x="152400" y="4600950"/>
            <a:ext cx="868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rgbClr val="2A2A2A"/>
                </a:solidFill>
                <a:latin typeface="Inter Medium"/>
                <a:ea typeface="Inter Medium"/>
                <a:cs typeface="Inter Medium"/>
                <a:sym typeface="Inter Medium"/>
              </a:rPr>
              <a:t>AI Automation | Project 6</a:t>
            </a:r>
            <a:endParaRPr sz="1200">
              <a:solidFill>
                <a:srgbClr val="2A2A2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Problem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0" name="Google Shape;90;p29"/>
          <p:cNvSpPr txBox="1"/>
          <p:nvPr>
            <p:ph idx="1" type="subTitle"/>
          </p:nvPr>
        </p:nvSpPr>
        <p:spPr>
          <a:xfrm>
            <a:off x="139800" y="2298300"/>
            <a:ext cx="8520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Finance manually opens supplier invoices, copies key fields, and identifies purchases—slowing reporting and risking errors.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29"/>
          <p:cNvSpPr txBox="1"/>
          <p:nvPr/>
        </p:nvSpPr>
        <p:spPr>
          <a:xfrm>
            <a:off x="247175" y="1331300"/>
            <a:ext cx="43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Solution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7" name="Google Shape;97;p30"/>
          <p:cNvSpPr txBox="1"/>
          <p:nvPr>
            <p:ph idx="1" type="subTitle"/>
          </p:nvPr>
        </p:nvSpPr>
        <p:spPr>
          <a:xfrm>
            <a:off x="139800" y="2298300"/>
            <a:ext cx="8520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2000"/>
              <a:buFont typeface="Inter"/>
              <a:buChar char="●"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UiPath reads Drive PDFs, extracts invoice fields, flags low-confidence numbers, and generates short purchase descriptions. Eligible invoices are appended to a five-column report.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30"/>
          <p:cNvSpPr txBox="1"/>
          <p:nvPr/>
        </p:nvSpPr>
        <p:spPr>
          <a:xfrm>
            <a:off x="247175" y="1331300"/>
            <a:ext cx="43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1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RPA workflow diagram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" name="Google Shape;104;p31"/>
          <p:cNvSpPr txBox="1"/>
          <p:nvPr/>
        </p:nvSpPr>
        <p:spPr>
          <a:xfrm>
            <a:off x="247175" y="1331300"/>
            <a:ext cx="4372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9900"/>
                </a:highlight>
              </a:rPr>
              <a:t>Drive PDFs → Document Understanding → Confidence warning → AI description → Due-date check → Google Sheets</a:t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 txBox="1"/>
          <p:nvPr>
            <p:ph type="ctrTitle"/>
          </p:nvPr>
        </p:nvSpPr>
        <p:spPr>
          <a:xfrm>
            <a:off x="96875" y="3487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Benefits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0" name="Google Shape;110;p32"/>
          <p:cNvSpPr/>
          <p:nvPr/>
        </p:nvSpPr>
        <p:spPr>
          <a:xfrm>
            <a:off x="228600" y="1375825"/>
            <a:ext cx="2722200" cy="3539100"/>
          </a:xfrm>
          <a:prstGeom prst="snip2DiagRect">
            <a:avLst>
              <a:gd fmla="val 0" name="adj1"/>
              <a:gd fmla="val 9217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Less manual copying</a:t>
            </a:r>
            <a:endParaRPr sz="22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1" name="Google Shape;111;p32"/>
          <p:cNvSpPr/>
          <p:nvPr/>
        </p:nvSpPr>
        <p:spPr>
          <a:xfrm>
            <a:off x="3209550" y="1375825"/>
            <a:ext cx="2724900" cy="3539100"/>
          </a:xfrm>
          <a:prstGeom prst="roundRect">
            <a:avLst>
              <a:gd fmla="val 9118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182875" spcFirstLastPara="1" rIns="18287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Clear purchase context</a:t>
            </a:r>
            <a:endParaRPr sz="22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12" name="Google Shape;112;p32"/>
          <p:cNvSpPr/>
          <p:nvPr/>
        </p:nvSpPr>
        <p:spPr>
          <a:xfrm>
            <a:off x="6193200" y="1375825"/>
            <a:ext cx="2724900" cy="3517800"/>
          </a:xfrm>
          <a:prstGeom prst="snip1Rect">
            <a:avLst>
              <a:gd fmla="val 9643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1A1A1A"/>
                </a:solidFill>
                <a:latin typeface="Inter Medium"/>
                <a:ea typeface="Inter Medium"/>
                <a:cs typeface="Inter Medium"/>
                <a:sym typeface="Inter Medium"/>
              </a:rPr>
              <a:t>Warnings for review</a:t>
            </a:r>
            <a:endParaRPr sz="2200">
              <a:solidFill>
                <a:srgbClr val="1A1A1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866775" cy="1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3"/>
          <p:cNvSpPr txBox="1"/>
          <p:nvPr>
            <p:ph type="ctrTitle"/>
          </p:nvPr>
        </p:nvSpPr>
        <p:spPr>
          <a:xfrm>
            <a:off x="96875" y="4249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1A1A1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Challenges &amp; improvements</a:t>
            </a:r>
            <a:endParaRPr sz="4000">
              <a:solidFill>
                <a:srgbClr val="1A1A1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" name="Google Shape;119;p33"/>
          <p:cNvSpPr txBox="1"/>
          <p:nvPr>
            <p:ph idx="1" type="subTitle"/>
          </p:nvPr>
        </p:nvSpPr>
        <p:spPr>
          <a:xfrm>
            <a:off x="139800" y="2298300"/>
            <a:ext cx="8520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Test faint scans and the 22 September cutoff. Review low-confidence invoice numbers, handle missing fields, and prevent duplicate rows on reruns.</a:t>
            </a:r>
            <a:endParaRPr sz="20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33"/>
          <p:cNvSpPr txBox="1"/>
          <p:nvPr/>
        </p:nvSpPr>
        <p:spPr>
          <a:xfrm>
            <a:off x="247175" y="1331300"/>
            <a:ext cx="437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9900"/>
                </a:highlight>
              </a:rPr>
              <a:t>Validation and future improvements</a:t>
            </a:r>
            <a:endParaRPr sz="1800">
              <a:solidFill>
                <a:schemeClr val="dk1"/>
              </a:solidFill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228161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4"/>
          <p:cNvSpPr txBox="1"/>
          <p:nvPr/>
        </p:nvSpPr>
        <p:spPr>
          <a:xfrm>
            <a:off x="507375" y="2863750"/>
            <a:ext cx="75084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Result: four eligible invoices with all five fields populated.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557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