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24"/>
    <p:sldId id="265" r:id="rId25"/>
    <p:sldId id="266" r:id="rId26"/>
    <p:sldId id="267" r:id="rId27"/>
    <p:sldId id="268" r:id="rId28"/>
    <p:sldId id="269" r:id="rId29"/>
  </p:sldIdLst>
  <p:sldSz cy="51435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Inter ExtraBold"/>
      <p:bold r:id="rId18"/>
      <p:boldItalic r:id="rId19"/>
    </p:embeddedFont>
    <p:embeddedFont>
      <p:font typeface="Inter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nter-regular.fntdata"/><Relationship Id="rId15" Type="http://schemas.openxmlformats.org/officeDocument/2006/relationships/font" Target="fonts/Inter-bold.fntdata"/><Relationship Id="rId16" Type="http://schemas.openxmlformats.org/officeDocument/2006/relationships/font" Target="fonts/Inter-italic.fntdata"/><Relationship Id="rId17" Type="http://schemas.openxmlformats.org/officeDocument/2006/relationships/font" Target="fonts/Inter-boldItalic.fntdata"/><Relationship Id="rId18" Type="http://schemas.openxmlformats.org/officeDocument/2006/relationships/font" Target="fonts/InterExtraBold-bold.fntdata"/><Relationship Id="rId19" Type="http://schemas.openxmlformats.org/officeDocument/2006/relationships/font" Target="fonts/InterExtraBold-boldItalic.fntdata"/><Relationship Id="rId20" Type="http://schemas.openxmlformats.org/officeDocument/2006/relationships/font" Target="fonts/InterMedium-regular.fntdata"/><Relationship Id="rId21" Type="http://schemas.openxmlformats.org/officeDocument/2006/relationships/font" Target="fonts/InterMedium-bold.fntdata"/><Relationship Id="rId22" Type="http://schemas.openxmlformats.org/officeDocument/2006/relationships/font" Target="fonts/InterMedium-italic.fntdata"/><Relationship Id="rId23" Type="http://schemas.openxmlformats.org/officeDocument/2006/relationships/font" Target="fonts/InterMedium-boldItalic.fntdata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6dc00fcd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6dc00fc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e7cf68d7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e7cf68d7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e7cf68d7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e7cf68d7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44cad2245e4573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144cad2245e4573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44cad2245e4573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44cad2245e4573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of Invoice Reporting with UiPath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Jason Teixeira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6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0" name="Google Shape;90;p29"/>
          <p:cNvSpPr txBox="1"/>
          <p:nvPr>
            <p:ph idx="1" type="subTitle"/>
          </p:nvPr>
        </p:nvSpPr>
        <p:spPr>
          <a:xfrm>
            <a:off x="139800" y="229830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Finance manually opens supplier invoices, copies key fields, and identifies purchases—slowing reporting and risking errors.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Solution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30"/>
          <p:cNvSpPr txBox="1"/>
          <p:nvPr>
            <p:ph idx="1" type="subTitle"/>
          </p:nvPr>
        </p:nvSpPr>
        <p:spPr>
          <a:xfrm>
            <a:off x="139800" y="229830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UiPath reads Drive PDFs, extracts invoice fields, flags low-confidence numbers, and generates short purchase descriptions. Eligible invoices are appended to a five-column report.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30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RPA workflow diagram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" name="Google Shape;104;p31"/>
          <p:cNvSpPr txBox="1"/>
          <p:nvPr/>
        </p:nvSpPr>
        <p:spPr>
          <a:xfrm>
            <a:off x="247175" y="1331300"/>
            <a:ext cx="437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9900"/>
                </a:highlight>
              </a:rPr>
              <a:t>Drive PDFs → Document Understanding → Confidence warning → AI description → Due-date check → Google Sheets</a:t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/>
          <p:nvPr>
            <p:ph type="ctrTitle"/>
          </p:nvPr>
        </p:nvSpPr>
        <p:spPr>
          <a:xfrm>
            <a:off x="96875" y="3487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Benefits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228600" y="1375825"/>
            <a:ext cx="2722200" cy="35391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Less manual copying</a:t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1" name="Google Shape;111;p32"/>
          <p:cNvSpPr/>
          <p:nvPr/>
        </p:nvSpPr>
        <p:spPr>
          <a:xfrm>
            <a:off x="3209550" y="1375825"/>
            <a:ext cx="2724900" cy="3539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Clear purchase context</a:t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2" name="Google Shape;112;p32"/>
          <p:cNvSpPr/>
          <p:nvPr/>
        </p:nvSpPr>
        <p:spPr>
          <a:xfrm>
            <a:off x="6193200" y="1375825"/>
            <a:ext cx="2724900" cy="35178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Warnings for review</a:t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3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Challenges &amp; improvements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" name="Google Shape;119;p33"/>
          <p:cNvSpPr txBox="1"/>
          <p:nvPr>
            <p:ph idx="1" type="subTitle"/>
          </p:nvPr>
        </p:nvSpPr>
        <p:spPr>
          <a:xfrm>
            <a:off x="139800" y="229830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Test faint scans and the 22 September cutoff. Review low-confidence invoice numbers, handle missing fields, and prevent duplicate rows on reruns.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9900"/>
                </a:highlight>
              </a:rPr>
              <a:t>Validation and future improvements</a:t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28161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4"/>
          <p:cNvSpPr txBox="1"/>
          <p:nvPr/>
        </p:nvSpPr>
        <p:spPr>
          <a:xfrm>
            <a:off x="507375" y="2863750"/>
            <a:ext cx="75084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four eligible invoices with all five fields populated.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5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38912" y="25603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Confidence check and manual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DD9E8"/>
                </a:solidFill>
                <a:latin typeface="Aptos"/>
              </a:defRPr>
            </a:pPr>
            <a:r>
              <a:t>Invoice Number confidence below 0.7 routes to a Warn log for manual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2471" y="1335024"/>
            <a:ext cx="4119058" cy="35478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idence-check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047" y="1371600"/>
            <a:ext cx="4045906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8BE"/>
                </a:solidFill>
                <a:latin typeface="Aptos"/>
              </a:defRPr>
            </a:pPr>
            <a:r>
              <a:t>UiPath Studio Web configuration capture · October 29, 2026 · Evidence 1/6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38912" y="25603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Due date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DD9E8"/>
                </a:solidFill>
                <a:latin typeface="Aptos"/>
              </a:defRPr>
            </a:pPr>
            <a:r>
              <a:t>Both conditions must pass: confidence at least 0.7 and due date on or before September 22, 2025. The Else branch has no Write Row.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502" y="1335024"/>
            <a:ext cx="6966996" cy="35478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ue-date-filter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78" y="1371600"/>
            <a:ext cx="6893844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8BE"/>
                </a:solidFill>
                <a:latin typeface="Aptos"/>
              </a:defRPr>
            </a:pPr>
            <a:r>
              <a:t>UiPath Studio Web configuration capture · October 29, 2026 · Evidence 2/6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38912" y="25603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Due date filter: report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DD9E8"/>
                </a:solidFill>
                <a:latin typeface="Aptos"/>
              </a:defRPr>
            </a:pPr>
            <a:r>
              <a:t>Write Row appears only in Then. The empty Else branch skips invoices that fail the date or confidence condition.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83531" y="1335024"/>
            <a:ext cx="5776937" cy="35478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ue-date-branches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07" y="1371600"/>
            <a:ext cx="5703785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8BE"/>
                </a:solidFill>
                <a:latin typeface="Aptos"/>
              </a:defRPr>
            </a:pPr>
            <a:r>
              <a:t>UiPath Studio Web configuration capture · October 29, 2026 · Evidence 3/6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38912" y="25603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Purchase Description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DD9E8"/>
                </a:solidFill>
                <a:latin typeface="Aptos"/>
              </a:defRPr>
            </a:pPr>
            <a:r>
              <a:t>The system prompt limits the generated description to at most 15 words; the invoice document text is supplied as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335024"/>
            <a:ext cx="3200400" cy="35478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ent-generation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371600"/>
            <a:ext cx="3127248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8BE"/>
                </a:solidFill>
                <a:latin typeface="Aptos"/>
              </a:defRPr>
            </a:pPr>
            <a:r>
              <a:t>UiPath Studio Web configuration capture · October 29, 2026 · Evidence 4/6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38912" y="25603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Google Sheets Write Row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DD9E8"/>
                </a:solidFill>
                <a:latin typeface="Aptos"/>
              </a:defRPr>
            </a:pPr>
            <a:r>
              <a:t>All five fields are mapped. Purchase description uses Top generated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51311" y="1335024"/>
            <a:ext cx="2241377" cy="35478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rite-row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887" y="1371600"/>
            <a:ext cx="2168225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8BE"/>
                </a:solidFill>
                <a:latin typeface="Aptos"/>
              </a:defRPr>
            </a:pPr>
            <a:r>
              <a:t>UiPath Studio Web configuration capture · October 29, 2026 · Evidence 5/6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38912" y="25603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Document Understanding warning reviewed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DD9E8"/>
                </a:solidFill>
                <a:latin typeface="Aptos"/>
              </a:defRPr>
            </a:pPr>
            <a:r>
              <a:t>Studio warns that the predefined Invoices model is outside the Solution definitions. The successful local run is evidenced separately; deployment to another tenant needs that model 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2713" y="1335024"/>
            <a:ext cx="4138574" cy="3547871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cument-understanding-warning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289" y="1371600"/>
            <a:ext cx="4065422" cy="34747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7A8BE"/>
                </a:solidFill>
                <a:latin typeface="Aptos"/>
              </a:defRPr>
            </a:pPr>
            <a:r>
              <a:t>UiPath Studio Web configuration capture · October 29, 2026 · Evidence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