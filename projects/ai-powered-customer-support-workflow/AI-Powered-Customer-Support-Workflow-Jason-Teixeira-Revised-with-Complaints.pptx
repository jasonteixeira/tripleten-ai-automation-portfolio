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2700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28816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AI-Powered Customer Support Workflow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7132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AI-Powered Customer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Workflow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3232" y="2697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8FF"/>
                </a:solidFill>
              </a:rPr>
              <a:t>Sprint 1 Project · AI Automation Specialist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503920" y="658368"/>
            <a:ext cx="2148840" cy="2148840"/>
          </a:xfrm>
          <a:prstGeom prst="ellipse">
            <a:avLst/>
          </a:prstGeom>
          <a:solidFill>
            <a:srgbClr val="2563EB">
              <a:alpha val="8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2834640"/>
            <a:ext cx="868680" cy="868680"/>
          </a:xfrm>
          <a:prstGeom prst="ellipse">
            <a:avLst/>
          </a:prstGeom>
          <a:solidFill>
            <a:srgbClr val="06B6D4">
              <a:alpha val="7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5230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Jason Teixeira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55778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8FF"/>
                </a:solidFill>
              </a:rPr>
              <a:t>TripleTen AI Automation Course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43800" y="513892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07808" y="5198364"/>
            <a:ext cx="1472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Workflow analysis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308592" y="5138928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2600" y="5198364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Complaint data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Customer Support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original process relies on manual intake, manual ticket assignment, and human follow-up.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1938528" y="1865376"/>
            <a:ext cx="173736" cy="16459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11296" y="1865376"/>
            <a:ext cx="173736" cy="16459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84064" y="1865376"/>
            <a:ext cx="173736" cy="16459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56832" y="1865376"/>
            <a:ext cx="173736" cy="16459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865376"/>
            <a:ext cx="173736" cy="16459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1865376"/>
            <a:ext cx="173736" cy="16459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50876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58191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Customer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658368" y="17647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Submits inquiry by email, phone, web form, or social media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139696" y="150876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03704" y="158191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CSR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231136" y="17647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Manually logs inquiry into CRM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712464" y="150876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76472" y="158191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Supervisor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803904" y="17647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Reviews ticket and assigns CSR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285232" y="150876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58191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CSR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376672" y="17647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Sends acknowledgement and ETA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6858000" y="150876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2008" y="158191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CSR / Teams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949440" y="17647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Investigates and communicates solution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8430768" y="150876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94776" y="158191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Tier 2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8522208" y="17647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Handles complex or unresolved issues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10003536" y="150876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67544" y="158191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Customer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0094976" y="17647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Receives survey after resolution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960120" y="3703320"/>
            <a:ext cx="10195560" cy="1207008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Key observation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4279392"/>
            <a:ext cx="9464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The workflow can support customers, but too many important steps depend on manual work. The largest risks are slow intake, inconsistent routing, and poor follow-up communication.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Complaint Data Source &amp; Manual Review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I reviewed 50 customer complaints and grouped them into recurring support-process themes.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703320" cy="4315968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Source used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TripleTen-provided list of 50 recent customer complaints.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614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Manual review method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36392"/>
            <a:ext cx="31089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• Read each complaint once for the main customer pain point
</a:t>
            </a:r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• Assigned one primary theme per complaint
</a:t>
            </a:r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• Mapped each theme to the workflow step where the issue occurs
</a:t>
            </a:r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• Selected the three strongest workflow problems for the solution design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6812280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600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Manual theme count from 50 complaints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19472" y="1984248"/>
            <a:ext cx="6172200" cy="347472"/>
          </a:xfrm>
          <a:prstGeom prst="rect">
            <a:avLst/>
          </a:prstGeom>
          <a:solidFill>
            <a:srgbClr val="0B1F3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2084832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Theme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872984" y="208483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Complaints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8723376" y="208483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Workflow stage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919472" y="2331720"/>
            <a:ext cx="61722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2459736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Delays / long waits / no updates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72984" y="245973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9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23376" y="2459736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Acknowledgement + communication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19472" y="2752344"/>
            <a:ext cx="6172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880360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Repeated info / transfers / lost context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872984" y="2880360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9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23376" y="288036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Intake + escalation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19472" y="3172968"/>
            <a:ext cx="61722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3300984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Poor agent quality / empathy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872984" y="330098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8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23376" y="3300984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CSR interaction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19472" y="3593592"/>
            <a:ext cx="6172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3721608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Knowledge gaps / incorrect or generic answers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872984" y="372160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8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723376" y="3721608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Investigation + resolution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19472" y="4014216"/>
            <a:ext cx="61722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4142232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Escalation, access, or technical constraints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872984" y="414223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8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723376" y="414223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Escalation + tools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19472" y="4434840"/>
            <a:ext cx="6172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4562856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Confusing self-service / automation issues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872984" y="45628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723376" y="4562856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Customer intake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19472" y="4855464"/>
            <a:ext cx="61722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4983480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Other access barriers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872984" y="4983480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723376" y="498348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Intake / service availability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5800" y="6053328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Source shown in deck to document that findings are based on the provided complaint list, not invented assumptions.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Problems Identified from Complaint Themes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strongest patterns connect directly to specific stages of the current workflow.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3456432" cy="4069080"/>
          </a:xfrm>
          <a:prstGeom prst="roundRect">
            <a:avLst>
              <a:gd name="adj" fmla="val 1587"/>
            </a:avLst>
          </a:prstGeom>
          <a:solidFill>
            <a:srgbClr val="FEF2F2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DC2626"/>
                </a:solidFill>
              </a:rPr>
              <a:t>Workflow step: CSR acknowledgement + communication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868680" y="1984248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Customers wait too long and receive poor updates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4748B"/>
                </a:solidFill>
              </a:rPr>
              <a:t>Complaint evidence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</a:rPr>
              <a:t>Complaints mention long hold times, slow email support, no promised callbacks, no timelines, and no next-step information.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4748B"/>
                </a:solidFill>
              </a:rPr>
              <a:t>Business impact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033"/>
                </a:solidFill>
              </a:rPr>
              <a:t>Creates frustration, repeat contacts, and lower satisfaction.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4480560" y="1325880"/>
            <a:ext cx="3456432" cy="4069080"/>
          </a:xfrm>
          <a:prstGeom prst="roundRect">
            <a:avLst>
              <a:gd name="adj" fmla="val 1587"/>
            </a:avLst>
          </a:prstGeom>
          <a:solidFill>
            <a:srgbClr val="FFFBE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5727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59E0B"/>
                </a:solidFill>
              </a:rPr>
              <a:t>Workflow step: Intake + escalation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4690872" y="1984248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Customers repeat themselves because context is lost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90872" y="2788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4748B"/>
                </a:solidFill>
              </a:rPr>
              <a:t>Complaint evidence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690872" y="306324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</a:rPr>
              <a:t>Complaints mention multiple transfers, repeating the same information, lost chat progress, and agents lacking access to prior interactions.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690872" y="4069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4748B"/>
                </a:solidFill>
              </a:rPr>
              <a:t>Business impact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690872" y="434340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033"/>
                </a:solidFill>
              </a:rPr>
              <a:t>Wastes CSR time and makes the support process feel disorganized.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8302752" y="1325880"/>
            <a:ext cx="3456432" cy="4069080"/>
          </a:xfrm>
          <a:prstGeom prst="roundRect">
            <a:avLst>
              <a:gd name="adj" fmla="val 1587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13064" y="15727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Workflow step: Investigation + resolution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8513064" y="1984248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Answers are inconsistent, generic, or incorrect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513064" y="2788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4748B"/>
                </a:solidFill>
              </a:rPr>
              <a:t>Complaint evidence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513064" y="306324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</a:rPr>
              <a:t>Complaints mention conflicting information, irrelevant troubleshooting, generic replies, outdated resources, and agents lacking product knowledge.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513064" y="4069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4748B"/>
                </a:solidFill>
              </a:rPr>
              <a:t>Business impact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513064" y="434340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033"/>
                </a:solidFill>
              </a:rPr>
              <a:t>Reduces first-contact resolution and damages trust.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AI Solutions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Each AI solution is tied to a complaint-backed workflow problem.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35640" cy="457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81328"/>
            <a:ext cx="2514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Problem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3730752" y="1481328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AI solution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6446520" y="1481328"/>
            <a:ext cx="4709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How it helps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10835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665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</a:rPr>
              <a:t>Slow updates and wait times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3730752" y="20665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6A34A"/>
                </a:solidFill>
              </a:rPr>
              <a:t>AI chatbot + automated status updates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6446520" y="206654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</a:rPr>
              <a:t>Provides instant acknowledgements, FAQs, estimated timelines, callback reminders, and proactive case updates.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85800" y="2779776"/>
            <a:ext cx="108356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9260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</a:rPr>
              <a:t>Lost context and repeat information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730752" y="2926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6A34A"/>
                </a:solidFill>
              </a:rPr>
              <a:t>AI ticket intake + CRM summarization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6446520" y="29260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</a:rPr>
              <a:t>Captures customer details once, summarizes prior interactions, and makes the full context visible to the next agent.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85800" y="3639312"/>
            <a:ext cx="10835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7856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</a:rPr>
              <a:t>Incorrect, inconsistent, or generic answers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3730752" y="37856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6A34A"/>
                </a:solidFill>
              </a:rPr>
              <a:t>AI knowledge assistant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6446520" y="378561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</a:rPr>
              <a:t>Suggests approved answers from the knowledge base, flags outdated articles, and recommends next steps to CSRs.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85800" y="4498848"/>
            <a:ext cx="108356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6451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</a:rPr>
              <a:t>Wrong transfers and assignment delays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3730752" y="46451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6A34A"/>
                </a:solidFill>
              </a:rPr>
              <a:t>AI ticket routing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6446520" y="46451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33"/>
                </a:solidFill>
              </a:rPr>
              <a:t>Routes tickets by issue type, urgency, customer history, CSR expertise, and workload.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1005840" y="5532120"/>
            <a:ext cx="10104120" cy="438912"/>
          </a:xfrm>
          <a:prstGeom prst="roundRect">
            <a:avLst>
              <a:gd name="adj" fmla="val 12500"/>
            </a:avLst>
          </a:prstGeom>
          <a:solidFill>
            <a:srgbClr val="EEF8FF"/>
          </a:solidFill>
          <a:ln w="12700">
            <a:solidFill>
              <a:srgbClr val="B6E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6152" y="5678424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Human oversight: Complex complaints, refunds, account-sensitive cases, and policy exceptions should still be handled or approved by trained support staff.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Updated AI-Enhanced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new workflow automates repetitive work while keeping humans responsible for complex decisions.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1938528" y="1773936"/>
            <a:ext cx="173736" cy="16459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11296" y="1773936"/>
            <a:ext cx="173736" cy="16459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84064" y="1773936"/>
            <a:ext cx="173736" cy="16459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56832" y="1773936"/>
            <a:ext cx="173736" cy="16459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773936"/>
            <a:ext cx="173736" cy="16459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1773936"/>
            <a:ext cx="173736" cy="16459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4173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49047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Customer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658368" y="16733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Submits inquiry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139696" y="14173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EAF7EF"/>
          </a:solidFill>
          <a:ln w="12700">
            <a:solidFill>
              <a:srgbClr val="8BD5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03704" y="149047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A34A"/>
                </a:solidFill>
              </a:rPr>
              <a:t>AI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231136" y="16733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Classifies inquiry and detects urgency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712464" y="14173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EAF7EF"/>
          </a:solidFill>
          <a:ln w="12700">
            <a:solidFill>
              <a:srgbClr val="8BD5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76472" y="149047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A34A"/>
                </a:solidFill>
              </a:rPr>
              <a:t>AI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803904" y="16733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Creates ticket + summarizes customer context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285232" y="14173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EAF7EF"/>
          </a:solidFill>
          <a:ln w="12700">
            <a:solidFill>
              <a:srgbClr val="8BD5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49047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A34A"/>
                </a:solidFill>
              </a:rPr>
              <a:t>AI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376672" y="16733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Routes ticket to best owner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6858000" y="14173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EAF7EF"/>
          </a:solidFill>
          <a:ln w="12700">
            <a:solidFill>
              <a:srgbClr val="8BD5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2008" y="149047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A34A"/>
                </a:solidFill>
              </a:rPr>
              <a:t>CSR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949440" y="16733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Uses AI knowledge assistant to resolve issue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8430768" y="14173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EAF7EF"/>
          </a:solidFill>
          <a:ln w="12700">
            <a:solidFill>
              <a:srgbClr val="8BD5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94776" y="149047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A34A"/>
                </a:solidFill>
              </a:rPr>
              <a:t>AI + Human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8522208" y="16733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Sends updates; escalates when needed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10003536" y="14173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EAF7EF"/>
          </a:solidFill>
          <a:ln w="12700">
            <a:solidFill>
              <a:srgbClr val="8BD5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67544" y="149047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A34A"/>
                </a:solidFill>
              </a:rPr>
              <a:t>AI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0094976" y="167335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033"/>
                </a:solidFill>
              </a:rPr>
              <a:t>Sends survey + summarizes trends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841248" y="3611880"/>
            <a:ext cx="5257800" cy="1353312"/>
          </a:xfrm>
          <a:prstGeom prst="roundRect">
            <a:avLst>
              <a:gd name="adj" fmla="val 4054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9848" y="38221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Automated or AI-assisted tasks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69848" y="4206240"/>
            <a:ext cx="4709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• Ticket classification and field creation
</a:t>
            </a:r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• Customer history summarization
</a:t>
            </a:r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• Routing and prioritization
</a:t>
            </a:r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• Status updates and survey analysis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27648" y="3611880"/>
            <a:ext cx="5257800" cy="1353312"/>
          </a:xfrm>
          <a:prstGeom prst="roundRect">
            <a:avLst>
              <a:gd name="adj" fmla="val 4054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56248" y="3822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Human-driven tasks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56248" y="4206240"/>
            <a:ext cx="4663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• Complex troubleshooting and judgment calls
</a:t>
            </a:r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• Refunds, sensitive cases, and policy exceptions
</a:t>
            </a:r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• Escalations requiring specialized expertise
</a:t>
            </a:r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• Final customer relationship management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Improvements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solution addresses the most common complaint themes and improves the customer support experience.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16636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1682496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179222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691640" y="1709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Reduced response delays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207568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</a:rPr>
              <a:t>AI intake, acknowledgement, and routing shorten the time between customer contact and useful action.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516636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3328416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343814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91640" y="3355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Less repetition for customers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91640" y="372160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</a:rPr>
              <a:t>CRM summaries preserve context so customers do not have to explain the same issue multiple times.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16636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3096" y="1682496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179222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78040" y="1709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More accurate answers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78040" y="207568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</a:rPr>
              <a:t>AI knowledge support gives CSRs approved information and reduces conflicting or generic responses.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263640" y="3063240"/>
            <a:ext cx="516636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3096" y="3328416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343814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78040" y="3355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Better customer satisfaction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78040" y="372160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</a:rPr>
              <a:t>Clear updates, faster routing, and better context reduce frustration and repeat contacts.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1051560" y="5212080"/>
            <a:ext cx="10058400" cy="530352"/>
          </a:xfrm>
          <a:prstGeom prst="roundRect">
            <a:avLst>
              <a:gd name="adj" fmla="val 10345"/>
            </a:avLst>
          </a:prstGeom>
          <a:solidFill>
            <a:srgbClr val="EAF7EF"/>
          </a:solidFill>
          <a:ln w="12700">
            <a:solidFill>
              <a:srgbClr val="8BD5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8448" y="5404104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0B1F3A"/>
                </a:solidFill>
              </a:rPr>
              <a:t>Success metrics to track: first response time, average resolution time, repeat contact rate, routing accuracy, escalation rate, and customer satisfaction score.</a:t>
            </a:r>
            <a:endParaRPr lang="en-US" sz="10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Limitations, and Controls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AI improves the workflow, but safeguards are needed to protect quality and customer trust.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931920" y="123444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Why it matters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903720" y="12344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Control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49808" y="1536192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007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DC2626"/>
                </a:solidFill>
              </a:rPr>
              <a:t>Incorrect classification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3931920" y="1700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AI may misread urgency or issue type.</a:t>
            </a:r>
            <a:endParaRPr lang="en-US" sz="1010" dirty="0"/>
          </a:p>
        </p:txBody>
      </p:sp>
      <p:sp>
        <p:nvSpPr>
          <p:cNvPr id="10" name="Text 8"/>
          <p:cNvSpPr/>
          <p:nvPr/>
        </p:nvSpPr>
        <p:spPr>
          <a:xfrm>
            <a:off x="6903720" y="1700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6A34A"/>
                </a:solidFill>
              </a:rPr>
              <a:t>Use confidence thresholds and supervisor review for uncertain tickets.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749808" y="2560320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249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DC2626"/>
                </a:solidFill>
              </a:rPr>
              <a:t>Privacy and data handling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3931920" y="2724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Support messages may include sensitive customer information.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6903720" y="2724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6A34A"/>
                </a:solidFill>
              </a:rPr>
              <a:t>Limit access, mask sensitive fields, and follow company data policies.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749808" y="3584448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DC2626"/>
                </a:solidFill>
              </a:rPr>
              <a:t>Poor chatbot experience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393192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Customers may get frustrated if they cannot reach a person.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6903720" y="37490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6A34A"/>
                </a:solidFill>
              </a:rPr>
              <a:t>Always provide a clear human handoff option.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749808" y="4608576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7731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DC2626"/>
                </a:solidFill>
              </a:rPr>
              <a:t>Outdated knowledge base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3931920" y="4773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AI can only be as useful as the information it uses.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6903720" y="47731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6A34A"/>
                </a:solidFill>
              </a:rPr>
              <a:t>Assign owners to maintain articles and flag outdated content.</a:t>
            </a:r>
            <a:endParaRPr lang="en-US" sz="1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Recommendation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Start with a controlled pilot, measure results, and then scale the workflow.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749808" y="1481328"/>
            <a:ext cx="23957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73736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8470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18488" y="177393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Pilot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8408" y="2487168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Test AI intake, routing, and knowledge support on one support channel for 2–4 weeks.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538728" y="1481328"/>
            <a:ext cx="23957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39896" y="173736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9896" y="18470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07408" y="177393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Measure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67328" y="2487168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Track response time, resolution time, repeat contacts, CSAT, and routing accuracy.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327648" y="1481328"/>
            <a:ext cx="23957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28816" y="173736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8470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96328" y="177393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Improve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56248" y="2487168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Review failed classifications, update knowledge articles, and refine escalation rules.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116568" y="1481328"/>
            <a:ext cx="23957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17736" y="173736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17736" y="18470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85248" y="177393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Scale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45168" y="2487168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Expand to additional channels once accuracy and customer experience are stable.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1005840" y="4343400"/>
            <a:ext cx="10149840" cy="1005840"/>
          </a:xfrm>
          <a:prstGeom prst="roundRect">
            <a:avLst>
              <a:gd name="adj" fmla="val 5455"/>
            </a:avLst>
          </a:prstGeom>
          <a:solidFill>
            <a:srgbClr val="EEF8FF"/>
          </a:solidFill>
          <a:ln w="12700">
            <a:solidFill>
              <a:srgbClr val="B6E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61872" y="44988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Final recommendation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61872" y="4864608"/>
            <a:ext cx="9372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Use AI for repetitive, measurable workflow tasks, while keeping humans responsible for judgment, sensitive interactions, and final escalation decisions.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Complaint Theme Coding Summary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This slide documents the analysis trail used to connect complaints to workflow problems.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822960" y="1481328"/>
            <a:ext cx="10469880" cy="438912"/>
          </a:xfrm>
          <a:prstGeom prst="rect">
            <a:avLst/>
          </a:prstGeom>
          <a:solidFill>
            <a:srgbClr val="0B1F3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61848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Workflow problem selected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895344" y="161848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Primary complaint themes used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6803136" y="161848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Examples of complaint language reviewed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10469880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13969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Slow response / poor updates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95344" y="213969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Delays, long waits, no callbacks, no timeline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03136" y="2139696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Long hold times; slow email support; promised callback never happened; no information on next steps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999232"/>
            <a:ext cx="104698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21868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Lost customer context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95344" y="321868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Repeated info, transfers, disconnected chats, no access to past interactions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03136" y="3218688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Transferred multiple times; repeat same information; lost chat progress; previous support interactions unavailable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078224"/>
            <a:ext cx="10469880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2976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Low-quality resolution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95344" y="42976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Incorrect answers, generic responses, outdated resources, irrelevant troubleshooting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03136" y="4297680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Conflicting information; generic response; outdated support resources; troubleshooting did not match issue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6053328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Note: The complaint list was used as the evidence base for the workflow problems and recommendations.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TripleTen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Customer Support Workflow – Jason Teixeira</dc:title>
  <dc:subject>AI-Powered Customer Support Workflow</dc:subject>
  <dc:creator>Jason Teixeira</dc:creator>
  <cp:lastModifiedBy>Jason Teixeira</cp:lastModifiedBy>
  <cp:revision>1</cp:revision>
  <dcterms:created xsi:type="dcterms:W3CDTF">2026-07-19T15:42:22Z</dcterms:created>
  <dcterms:modified xsi:type="dcterms:W3CDTF">2026-07-19T15:42:22Z</dcterms:modified>
</cp:coreProperties>
</file>