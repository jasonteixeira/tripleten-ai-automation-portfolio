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64808"/>
            <a:ext cx="11201400" cy="0"/>
          </a:xfrm>
          <a:prstGeom prst="line">
            <a:avLst/>
          </a:prstGeom>
          <a:noFill/>
          <a:ln w="12700">
            <a:solidFill>
              <a:srgbClr val="D7DEE8">
                <a:alpha val="85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28816"/>
            <a:ext cx="4297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18096"/>
                </a:solidFill>
              </a:rPr>
              <a:t>AI-Powered Customer Support Workflow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1809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1809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51560"/>
            <a:ext cx="7132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AI-Powered Customer</a:t>
            </a:r>
            <a:endParaRPr lang="en-US" sz="3500" dirty="0"/>
          </a:p>
          <a:p>
            <a:pPr indent="0" marL="0">
              <a:buNone/>
            </a:pPr>
            <a:r>
              <a:rPr lang="en-US" sz="3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 Workflow</a:t>
            </a:r>
            <a:endParaRPr lang="en-US" sz="3500" dirty="0"/>
          </a:p>
        </p:txBody>
      </p:sp>
      <p:sp>
        <p:nvSpPr>
          <p:cNvPr id="3" name="Text 1"/>
          <p:cNvSpPr/>
          <p:nvPr/>
        </p:nvSpPr>
        <p:spPr>
          <a:xfrm>
            <a:off x="713232" y="26974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FD8FF"/>
                </a:solidFill>
              </a:rPr>
              <a:t>Sprint 1 Project · AI Automation Specialist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503920" y="658368"/>
            <a:ext cx="2148840" cy="2148840"/>
          </a:xfrm>
          <a:prstGeom prst="ellipse">
            <a:avLst/>
          </a:prstGeom>
          <a:solidFill>
            <a:srgbClr val="2563EB">
              <a:alpha val="88000"/>
            </a:srgbClr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0744200" y="2834640"/>
            <a:ext cx="868680" cy="868680"/>
          </a:xfrm>
          <a:prstGeom prst="ellipse">
            <a:avLst/>
          </a:prstGeom>
          <a:solidFill>
            <a:srgbClr val="06B6D4">
              <a:alpha val="78000"/>
            </a:srgbClr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13232" y="5230368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Jason Teixeira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13232" y="5577840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FD8FF"/>
                </a:solidFill>
              </a:rPr>
              <a:t>TripleTen AI Automation Course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7543800" y="5138928"/>
            <a:ext cx="1600200" cy="292608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607808" y="5198364"/>
            <a:ext cx="147218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Workflow analysis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9308592" y="5138928"/>
            <a:ext cx="1389888" cy="292608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9372600" y="5198364"/>
            <a:ext cx="126187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Complaint data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1809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Customer Support Workflow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8046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dirty="0">
                <a:solidFill>
                  <a:srgbClr val="64748B"/>
                </a:solidFill>
              </a:rPr>
              <a:t>The original process relies on manual intake, manual ticket assignment, and human follow-up.</a:t>
            </a:r>
            <a:endParaRPr lang="en-US" sz="1220" dirty="0"/>
          </a:p>
        </p:txBody>
      </p:sp>
      <p:sp>
        <p:nvSpPr>
          <p:cNvPr id="4" name="Shape 2"/>
          <p:cNvSpPr/>
          <p:nvPr/>
        </p:nvSpPr>
        <p:spPr>
          <a:xfrm>
            <a:off x="1938528" y="1865376"/>
            <a:ext cx="173736" cy="164592"/>
          </a:xfrm>
          <a:prstGeom prst="rightArrow">
            <a:avLst/>
          </a:prstGeom>
          <a:solidFill>
            <a:srgbClr val="A8B8CC"/>
          </a:solidFill>
          <a:ln w="12700">
            <a:solidFill>
              <a:srgbClr val="A8B8CC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511296" y="1865376"/>
            <a:ext cx="173736" cy="164592"/>
          </a:xfrm>
          <a:prstGeom prst="rightArrow">
            <a:avLst/>
          </a:prstGeom>
          <a:solidFill>
            <a:srgbClr val="A8B8CC"/>
          </a:solidFill>
          <a:ln w="12700">
            <a:solidFill>
              <a:srgbClr val="A8B8CC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084064" y="1865376"/>
            <a:ext cx="173736" cy="164592"/>
          </a:xfrm>
          <a:prstGeom prst="rightArrow">
            <a:avLst/>
          </a:prstGeom>
          <a:solidFill>
            <a:srgbClr val="A8B8CC"/>
          </a:solidFill>
          <a:ln w="12700">
            <a:solidFill>
              <a:srgbClr val="A8B8CC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656832" y="1865376"/>
            <a:ext cx="173736" cy="164592"/>
          </a:xfrm>
          <a:prstGeom prst="rightArrow">
            <a:avLst/>
          </a:prstGeom>
          <a:solidFill>
            <a:srgbClr val="A8B8CC"/>
          </a:solidFill>
          <a:ln w="12700">
            <a:solidFill>
              <a:srgbClr val="A8B8CC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8229600" y="1865376"/>
            <a:ext cx="173736" cy="164592"/>
          </a:xfrm>
          <a:prstGeom prst="rightArrow">
            <a:avLst/>
          </a:prstGeom>
          <a:solidFill>
            <a:srgbClr val="A8B8CC"/>
          </a:solidFill>
          <a:ln w="12700">
            <a:solidFill>
              <a:srgbClr val="A8B8CC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9802368" y="1865376"/>
            <a:ext cx="173736" cy="164592"/>
          </a:xfrm>
          <a:prstGeom prst="rightArrow">
            <a:avLst/>
          </a:prstGeom>
          <a:solidFill>
            <a:srgbClr val="A8B8CC"/>
          </a:solidFill>
          <a:ln w="12700">
            <a:solidFill>
              <a:srgbClr val="A8B8CC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566928" y="1508760"/>
            <a:ext cx="13258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" y="1581912"/>
            <a:ext cx="11978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2563EB"/>
                </a:solidFill>
              </a:rPr>
              <a:t>Customer</a:t>
            </a:r>
            <a:endParaRPr lang="en-US" sz="780" dirty="0"/>
          </a:p>
        </p:txBody>
      </p:sp>
      <p:sp>
        <p:nvSpPr>
          <p:cNvPr id="12" name="Text 10"/>
          <p:cNvSpPr/>
          <p:nvPr/>
        </p:nvSpPr>
        <p:spPr>
          <a:xfrm>
            <a:off x="658368" y="1764792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172033"/>
                </a:solidFill>
              </a:rPr>
              <a:t>Submits inquiry by email, phone, web form, or social media</a:t>
            </a:r>
            <a:endParaRPr lang="en-US" sz="830" dirty="0"/>
          </a:p>
        </p:txBody>
      </p:sp>
      <p:sp>
        <p:nvSpPr>
          <p:cNvPr id="13" name="Shape 11"/>
          <p:cNvSpPr/>
          <p:nvPr/>
        </p:nvSpPr>
        <p:spPr>
          <a:xfrm>
            <a:off x="2139696" y="1508760"/>
            <a:ext cx="13258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2203704" y="1581912"/>
            <a:ext cx="11978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2563EB"/>
                </a:solidFill>
              </a:rPr>
              <a:t>CSR</a:t>
            </a:r>
            <a:endParaRPr lang="en-US" sz="780" dirty="0"/>
          </a:p>
        </p:txBody>
      </p:sp>
      <p:sp>
        <p:nvSpPr>
          <p:cNvPr id="15" name="Text 13"/>
          <p:cNvSpPr/>
          <p:nvPr/>
        </p:nvSpPr>
        <p:spPr>
          <a:xfrm>
            <a:off x="2231136" y="1764792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172033"/>
                </a:solidFill>
              </a:rPr>
              <a:t>Manually logs inquiry into CRM</a:t>
            </a:r>
            <a:endParaRPr lang="en-US" sz="830" dirty="0"/>
          </a:p>
        </p:txBody>
      </p:sp>
      <p:sp>
        <p:nvSpPr>
          <p:cNvPr id="16" name="Shape 14"/>
          <p:cNvSpPr/>
          <p:nvPr/>
        </p:nvSpPr>
        <p:spPr>
          <a:xfrm>
            <a:off x="3712464" y="1508760"/>
            <a:ext cx="13258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3776472" y="1581912"/>
            <a:ext cx="11978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2563EB"/>
                </a:solidFill>
              </a:rPr>
              <a:t>Supervisor</a:t>
            </a:r>
            <a:endParaRPr lang="en-US" sz="780" dirty="0"/>
          </a:p>
        </p:txBody>
      </p:sp>
      <p:sp>
        <p:nvSpPr>
          <p:cNvPr id="18" name="Text 16"/>
          <p:cNvSpPr/>
          <p:nvPr/>
        </p:nvSpPr>
        <p:spPr>
          <a:xfrm>
            <a:off x="3803904" y="1764792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172033"/>
                </a:solidFill>
              </a:rPr>
              <a:t>Reviews ticket and assigns CSR</a:t>
            </a:r>
            <a:endParaRPr lang="en-US" sz="830" dirty="0"/>
          </a:p>
        </p:txBody>
      </p:sp>
      <p:sp>
        <p:nvSpPr>
          <p:cNvPr id="19" name="Shape 17"/>
          <p:cNvSpPr/>
          <p:nvPr/>
        </p:nvSpPr>
        <p:spPr>
          <a:xfrm>
            <a:off x="5285232" y="1508760"/>
            <a:ext cx="13258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349240" y="1581912"/>
            <a:ext cx="11978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2563EB"/>
                </a:solidFill>
              </a:rPr>
              <a:t>CSR</a:t>
            </a:r>
            <a:endParaRPr lang="en-US" sz="780" dirty="0"/>
          </a:p>
        </p:txBody>
      </p:sp>
      <p:sp>
        <p:nvSpPr>
          <p:cNvPr id="21" name="Text 19"/>
          <p:cNvSpPr/>
          <p:nvPr/>
        </p:nvSpPr>
        <p:spPr>
          <a:xfrm>
            <a:off x="5376672" y="1764792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172033"/>
                </a:solidFill>
              </a:rPr>
              <a:t>Sends acknowledgement and ETA</a:t>
            </a:r>
            <a:endParaRPr lang="en-US" sz="830" dirty="0"/>
          </a:p>
        </p:txBody>
      </p:sp>
      <p:sp>
        <p:nvSpPr>
          <p:cNvPr id="22" name="Shape 20"/>
          <p:cNvSpPr/>
          <p:nvPr/>
        </p:nvSpPr>
        <p:spPr>
          <a:xfrm>
            <a:off x="6858000" y="1508760"/>
            <a:ext cx="13258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922008" y="1581912"/>
            <a:ext cx="11978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2563EB"/>
                </a:solidFill>
              </a:rPr>
              <a:t>CSR / Teams</a:t>
            </a:r>
            <a:endParaRPr lang="en-US" sz="780" dirty="0"/>
          </a:p>
        </p:txBody>
      </p:sp>
      <p:sp>
        <p:nvSpPr>
          <p:cNvPr id="24" name="Text 22"/>
          <p:cNvSpPr/>
          <p:nvPr/>
        </p:nvSpPr>
        <p:spPr>
          <a:xfrm>
            <a:off x="6949440" y="1764792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172033"/>
                </a:solidFill>
              </a:rPr>
              <a:t>Investigates and communicates solution</a:t>
            </a:r>
            <a:endParaRPr lang="en-US" sz="830" dirty="0"/>
          </a:p>
        </p:txBody>
      </p:sp>
      <p:sp>
        <p:nvSpPr>
          <p:cNvPr id="25" name="Shape 23"/>
          <p:cNvSpPr/>
          <p:nvPr/>
        </p:nvSpPr>
        <p:spPr>
          <a:xfrm>
            <a:off x="8430768" y="1508760"/>
            <a:ext cx="13258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8494776" y="1581912"/>
            <a:ext cx="11978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2563EB"/>
                </a:solidFill>
              </a:rPr>
              <a:t>Tier 2</a:t>
            </a:r>
            <a:endParaRPr lang="en-US" sz="780" dirty="0"/>
          </a:p>
        </p:txBody>
      </p:sp>
      <p:sp>
        <p:nvSpPr>
          <p:cNvPr id="27" name="Text 25"/>
          <p:cNvSpPr/>
          <p:nvPr/>
        </p:nvSpPr>
        <p:spPr>
          <a:xfrm>
            <a:off x="8522208" y="1764792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172033"/>
                </a:solidFill>
              </a:rPr>
              <a:t>Handles complex or unresolved issues</a:t>
            </a:r>
            <a:endParaRPr lang="en-US" sz="830" dirty="0"/>
          </a:p>
        </p:txBody>
      </p:sp>
      <p:sp>
        <p:nvSpPr>
          <p:cNvPr id="28" name="Shape 26"/>
          <p:cNvSpPr/>
          <p:nvPr/>
        </p:nvSpPr>
        <p:spPr>
          <a:xfrm>
            <a:off x="10003536" y="1508760"/>
            <a:ext cx="13258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10067544" y="1581912"/>
            <a:ext cx="11978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2563EB"/>
                </a:solidFill>
              </a:rPr>
              <a:t>Customer</a:t>
            </a:r>
            <a:endParaRPr lang="en-US" sz="780" dirty="0"/>
          </a:p>
        </p:txBody>
      </p:sp>
      <p:sp>
        <p:nvSpPr>
          <p:cNvPr id="30" name="Text 28"/>
          <p:cNvSpPr/>
          <p:nvPr/>
        </p:nvSpPr>
        <p:spPr>
          <a:xfrm>
            <a:off x="10094976" y="1764792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172033"/>
                </a:solidFill>
              </a:rPr>
              <a:t>Receives survey after resolution</a:t>
            </a:r>
            <a:endParaRPr lang="en-US" sz="830" dirty="0"/>
          </a:p>
        </p:txBody>
      </p:sp>
      <p:sp>
        <p:nvSpPr>
          <p:cNvPr id="31" name="Shape 29"/>
          <p:cNvSpPr/>
          <p:nvPr/>
        </p:nvSpPr>
        <p:spPr>
          <a:xfrm>
            <a:off x="960120" y="3703320"/>
            <a:ext cx="10195560" cy="1207008"/>
          </a:xfrm>
          <a:prstGeom prst="roundRect">
            <a:avLst>
              <a:gd name="adj" fmla="val 4545"/>
            </a:avLst>
          </a:prstGeom>
          <a:solidFill>
            <a:srgbClr val="F8FAFC"/>
          </a:solidFill>
          <a:ln w="12700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1188720" y="388620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</a:rPr>
              <a:t>Key observation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188720" y="4279392"/>
            <a:ext cx="9464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72033"/>
                </a:solidFill>
              </a:rPr>
              <a:t>The workflow can support customers, but too many important steps depend on manual work. The largest risks are slow intake, inconsistent routing, and poor follow-up communication.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1809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Complaint Data Source &amp; Manual Review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8046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dirty="0">
                <a:solidFill>
                  <a:srgbClr val="64748B"/>
                </a:solidFill>
              </a:rPr>
              <a:t>I reviewed 50 customer complaints and grouped them into recurring support-process themes.</a:t>
            </a:r>
            <a:endParaRPr lang="en-US" sz="1220" dirty="0"/>
          </a:p>
        </p:txBody>
      </p:sp>
      <p:sp>
        <p:nvSpPr>
          <p:cNvPr id="4" name="Shape 2"/>
          <p:cNvSpPr/>
          <p:nvPr/>
        </p:nvSpPr>
        <p:spPr>
          <a:xfrm>
            <a:off x="685800" y="1325880"/>
            <a:ext cx="3703320" cy="4315968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14400" y="16002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</a:rPr>
              <a:t>Source used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19933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72033"/>
                </a:solidFill>
              </a:rPr>
              <a:t>TripleTen-provided list of 50 recent customer complaints.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276148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</a:rPr>
              <a:t>Manual review method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3136392"/>
            <a:ext cx="3108960" cy="1417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72033"/>
                </a:solidFill>
              </a:rPr>
              <a:t>• Read each complaint once for the main customer pain point
</a:t>
            </a:r>
            <a:pPr indent="0" marL="0">
              <a:buNone/>
            </a:pPr>
            <a:r>
              <a:rPr lang="en-US" sz="1050" dirty="0">
                <a:solidFill>
                  <a:srgbClr val="172033"/>
                </a:solidFill>
              </a:rPr>
              <a:t>• Assigned one primary theme per complaint
</a:t>
            </a:r>
            <a:pPr indent="0" marL="0">
              <a:buNone/>
            </a:pPr>
            <a:r>
              <a:rPr lang="en-US" sz="1050" dirty="0">
                <a:solidFill>
                  <a:srgbClr val="172033"/>
                </a:solidFill>
              </a:rPr>
              <a:t>• Mapped each theme to the workflow step where the issue occurs
</a:t>
            </a:r>
            <a:pPr indent="0" marL="0">
              <a:buNone/>
            </a:pPr>
            <a:r>
              <a:rPr lang="en-US" sz="1050" dirty="0">
                <a:solidFill>
                  <a:srgbClr val="172033"/>
                </a:solidFill>
              </a:rPr>
              <a:t>• Selected the three strongest workflow problems for the solution design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63440" y="1325880"/>
            <a:ext cx="6812280" cy="4315968"/>
          </a:xfrm>
          <a:prstGeom prst="roundRect">
            <a:avLst>
              <a:gd name="adj" fmla="val 1271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919472" y="160020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</a:rPr>
              <a:t>Manual theme count from 50 complaints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919472" y="1984248"/>
            <a:ext cx="6172200" cy="347472"/>
          </a:xfrm>
          <a:prstGeom prst="rect">
            <a:avLst/>
          </a:prstGeom>
          <a:solidFill>
            <a:srgbClr val="0B1F3A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010912" y="2084832"/>
            <a:ext cx="2788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dirty="0">
                <a:solidFill>
                  <a:srgbClr val="FFFFFF"/>
                </a:solidFill>
              </a:rPr>
              <a:t>Theme</a:t>
            </a:r>
            <a:endParaRPr lang="en-US" sz="880" dirty="0"/>
          </a:p>
        </p:txBody>
      </p:sp>
      <p:sp>
        <p:nvSpPr>
          <p:cNvPr id="13" name="Text 11"/>
          <p:cNvSpPr/>
          <p:nvPr/>
        </p:nvSpPr>
        <p:spPr>
          <a:xfrm>
            <a:off x="7872984" y="2084832"/>
            <a:ext cx="7772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</a:rPr>
              <a:t>Complaints</a:t>
            </a:r>
            <a:endParaRPr lang="en-US" sz="880" dirty="0"/>
          </a:p>
        </p:txBody>
      </p:sp>
      <p:sp>
        <p:nvSpPr>
          <p:cNvPr id="14" name="Text 12"/>
          <p:cNvSpPr/>
          <p:nvPr/>
        </p:nvSpPr>
        <p:spPr>
          <a:xfrm>
            <a:off x="8723376" y="2084832"/>
            <a:ext cx="21488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dirty="0">
                <a:solidFill>
                  <a:srgbClr val="FFFFFF"/>
                </a:solidFill>
              </a:rPr>
              <a:t>Workflow stage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4919472" y="2331720"/>
            <a:ext cx="617220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010912" y="2459736"/>
            <a:ext cx="2788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172033"/>
                </a:solidFill>
              </a:rPr>
              <a:t>Delays / long waits / no updates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72984" y="2459736"/>
            <a:ext cx="7772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2033"/>
                </a:solidFill>
              </a:rPr>
              <a:t>9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8723376" y="2459736"/>
            <a:ext cx="21488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172033"/>
                </a:solidFill>
              </a:rPr>
              <a:t>Acknowledgement + communication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919472" y="2752344"/>
            <a:ext cx="61722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010912" y="2880360"/>
            <a:ext cx="2788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172033"/>
                </a:solidFill>
              </a:rPr>
              <a:t>Repeated info / transfers / lost context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7872984" y="2880360"/>
            <a:ext cx="7772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2033"/>
                </a:solidFill>
              </a:rPr>
              <a:t>9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8723376" y="2880360"/>
            <a:ext cx="21488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172033"/>
                </a:solidFill>
              </a:rPr>
              <a:t>Intake + escalation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919472" y="3172968"/>
            <a:ext cx="617220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5010912" y="3300984"/>
            <a:ext cx="2788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172033"/>
                </a:solidFill>
              </a:rPr>
              <a:t>Poor agent quality / empathy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7872984" y="3300984"/>
            <a:ext cx="7772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2033"/>
                </a:solidFill>
              </a:rPr>
              <a:t>8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8723376" y="3300984"/>
            <a:ext cx="21488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172033"/>
                </a:solidFill>
              </a:rPr>
              <a:t>CSR interaction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919472" y="3593592"/>
            <a:ext cx="61722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5010912" y="3721608"/>
            <a:ext cx="2788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172033"/>
                </a:solidFill>
              </a:rPr>
              <a:t>Knowledge gaps / incorrect or generic answers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7872984" y="3721608"/>
            <a:ext cx="7772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2033"/>
                </a:solidFill>
              </a:rPr>
              <a:t>8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8723376" y="3721608"/>
            <a:ext cx="21488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172033"/>
                </a:solidFill>
              </a:rPr>
              <a:t>Investigation + resolution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919472" y="4014216"/>
            <a:ext cx="617220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5010912" y="4142232"/>
            <a:ext cx="2788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172033"/>
                </a:solidFill>
              </a:rPr>
              <a:t>Escalation, access, or technical constraints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7872984" y="4142232"/>
            <a:ext cx="7772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2033"/>
                </a:solidFill>
              </a:rPr>
              <a:t>8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8723376" y="4142232"/>
            <a:ext cx="21488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172033"/>
                </a:solidFill>
              </a:rPr>
              <a:t>Escalation + tools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919472" y="4434840"/>
            <a:ext cx="61722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5010912" y="4562856"/>
            <a:ext cx="2788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172033"/>
                </a:solidFill>
              </a:rPr>
              <a:t>Confusing self-service / automation issues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7872984" y="4562856"/>
            <a:ext cx="7772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2033"/>
                </a:solidFill>
              </a:rPr>
              <a:t>5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8723376" y="4562856"/>
            <a:ext cx="21488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172033"/>
                </a:solidFill>
              </a:rPr>
              <a:t>Customer intake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4919472" y="4855464"/>
            <a:ext cx="617220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5010912" y="4983480"/>
            <a:ext cx="2788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172033"/>
                </a:solidFill>
              </a:rPr>
              <a:t>Other access barriers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7872984" y="4983480"/>
            <a:ext cx="7772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2033"/>
                </a:solidFill>
              </a:rPr>
              <a:t>3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8723376" y="4983480"/>
            <a:ext cx="21488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172033"/>
                </a:solidFill>
              </a:rPr>
              <a:t>Intake / service availability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685800" y="6053328"/>
            <a:ext cx="10744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4748B"/>
                </a:solidFill>
              </a:rPr>
              <a:t>Source shown in deck to document that findings are based on the provided complaint list, not invented assumptions.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1809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Problems Identified from Complaint Themes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8046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dirty="0">
                <a:solidFill>
                  <a:srgbClr val="64748B"/>
                </a:solidFill>
              </a:rPr>
              <a:t>The strongest patterns connect directly to specific stages of the current workflow.</a:t>
            </a:r>
            <a:endParaRPr lang="en-US" sz="1220" dirty="0"/>
          </a:p>
        </p:txBody>
      </p:sp>
      <p:sp>
        <p:nvSpPr>
          <p:cNvPr id="4" name="Shape 2"/>
          <p:cNvSpPr/>
          <p:nvPr/>
        </p:nvSpPr>
        <p:spPr>
          <a:xfrm>
            <a:off x="658368" y="1325880"/>
            <a:ext cx="3456432" cy="4069080"/>
          </a:xfrm>
          <a:prstGeom prst="roundRect">
            <a:avLst>
              <a:gd name="adj" fmla="val 1587"/>
            </a:avLst>
          </a:prstGeom>
          <a:solidFill>
            <a:srgbClr val="FEF2F2"/>
          </a:solidFill>
          <a:ln w="12700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68680" y="1572768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b="1" dirty="0">
                <a:solidFill>
                  <a:srgbClr val="DC2626"/>
                </a:solidFill>
              </a:rPr>
              <a:t>Workflow step: CSR acknowledgement + communication</a:t>
            </a:r>
            <a:endParaRPr lang="en-US" sz="830" dirty="0"/>
          </a:p>
        </p:txBody>
      </p:sp>
      <p:sp>
        <p:nvSpPr>
          <p:cNvPr id="6" name="Text 4"/>
          <p:cNvSpPr/>
          <p:nvPr/>
        </p:nvSpPr>
        <p:spPr>
          <a:xfrm>
            <a:off x="868680" y="1984248"/>
            <a:ext cx="2962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0B1F3A"/>
                </a:solidFill>
              </a:rPr>
              <a:t>Customers wait too long and receive poor updates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868680" y="278892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64748B"/>
                </a:solidFill>
              </a:rPr>
              <a:t>Complaint evidence</a:t>
            </a:r>
            <a:endParaRPr lang="en-US" sz="920" dirty="0"/>
          </a:p>
        </p:txBody>
      </p:sp>
      <p:sp>
        <p:nvSpPr>
          <p:cNvPr id="8" name="Text 6"/>
          <p:cNvSpPr/>
          <p:nvPr/>
        </p:nvSpPr>
        <p:spPr>
          <a:xfrm>
            <a:off x="868680" y="3063240"/>
            <a:ext cx="2980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172033"/>
                </a:solidFill>
              </a:rPr>
              <a:t>Complaints mention long hold times, slow email support, no promised callbacks, no timelines, and no next-step information.</a:t>
            </a:r>
            <a:endParaRPr lang="en-US" sz="980" dirty="0"/>
          </a:p>
        </p:txBody>
      </p:sp>
      <p:sp>
        <p:nvSpPr>
          <p:cNvPr id="9" name="Text 7"/>
          <p:cNvSpPr/>
          <p:nvPr/>
        </p:nvSpPr>
        <p:spPr>
          <a:xfrm>
            <a:off x="868680" y="406908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64748B"/>
                </a:solidFill>
              </a:rPr>
              <a:t>Business impact</a:t>
            </a:r>
            <a:endParaRPr lang="en-US" sz="920" dirty="0"/>
          </a:p>
        </p:txBody>
      </p:sp>
      <p:sp>
        <p:nvSpPr>
          <p:cNvPr id="10" name="Text 8"/>
          <p:cNvSpPr/>
          <p:nvPr/>
        </p:nvSpPr>
        <p:spPr>
          <a:xfrm>
            <a:off x="868680" y="4343400"/>
            <a:ext cx="2971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172033"/>
                </a:solidFill>
              </a:rPr>
              <a:t>Creates frustration, repeat contacts, and lower satisfaction.</a:t>
            </a:r>
            <a:endParaRPr lang="en-US" sz="1040" dirty="0"/>
          </a:p>
        </p:txBody>
      </p:sp>
      <p:sp>
        <p:nvSpPr>
          <p:cNvPr id="11" name="Shape 9"/>
          <p:cNvSpPr/>
          <p:nvPr/>
        </p:nvSpPr>
        <p:spPr>
          <a:xfrm>
            <a:off x="4480560" y="1325880"/>
            <a:ext cx="3456432" cy="4069080"/>
          </a:xfrm>
          <a:prstGeom prst="roundRect">
            <a:avLst>
              <a:gd name="adj" fmla="val 1587"/>
            </a:avLst>
          </a:prstGeom>
          <a:solidFill>
            <a:srgbClr val="FFFBEB"/>
          </a:solidFill>
          <a:ln w="12700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690872" y="1572768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b="1" dirty="0">
                <a:solidFill>
                  <a:srgbClr val="F59E0B"/>
                </a:solidFill>
              </a:rPr>
              <a:t>Workflow step: Intake + escalation</a:t>
            </a:r>
            <a:endParaRPr lang="en-US" sz="830" dirty="0"/>
          </a:p>
        </p:txBody>
      </p:sp>
      <p:sp>
        <p:nvSpPr>
          <p:cNvPr id="13" name="Text 11"/>
          <p:cNvSpPr/>
          <p:nvPr/>
        </p:nvSpPr>
        <p:spPr>
          <a:xfrm>
            <a:off x="4690872" y="1984248"/>
            <a:ext cx="2962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0B1F3A"/>
                </a:solidFill>
              </a:rPr>
              <a:t>Customers repeat themselves because context is lost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4690872" y="278892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64748B"/>
                </a:solidFill>
              </a:rPr>
              <a:t>Complaint evidence</a:t>
            </a:r>
            <a:endParaRPr lang="en-US" sz="920" dirty="0"/>
          </a:p>
        </p:txBody>
      </p:sp>
      <p:sp>
        <p:nvSpPr>
          <p:cNvPr id="15" name="Text 13"/>
          <p:cNvSpPr/>
          <p:nvPr/>
        </p:nvSpPr>
        <p:spPr>
          <a:xfrm>
            <a:off x="4690872" y="3063240"/>
            <a:ext cx="2980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172033"/>
                </a:solidFill>
              </a:rPr>
              <a:t>Complaints mention multiple transfers, repeating the same information, lost chat progress, and agents lacking access to prior interactions.</a:t>
            </a:r>
            <a:endParaRPr lang="en-US" sz="980" dirty="0"/>
          </a:p>
        </p:txBody>
      </p:sp>
      <p:sp>
        <p:nvSpPr>
          <p:cNvPr id="16" name="Text 14"/>
          <p:cNvSpPr/>
          <p:nvPr/>
        </p:nvSpPr>
        <p:spPr>
          <a:xfrm>
            <a:off x="4690872" y="406908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64748B"/>
                </a:solidFill>
              </a:rPr>
              <a:t>Business impact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4690872" y="4343400"/>
            <a:ext cx="2971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172033"/>
                </a:solidFill>
              </a:rPr>
              <a:t>Wastes CSR time and makes the support process feel disorganized.</a:t>
            </a:r>
            <a:endParaRPr lang="en-US" sz="1040" dirty="0"/>
          </a:p>
        </p:txBody>
      </p:sp>
      <p:sp>
        <p:nvSpPr>
          <p:cNvPr id="18" name="Shape 16"/>
          <p:cNvSpPr/>
          <p:nvPr/>
        </p:nvSpPr>
        <p:spPr>
          <a:xfrm>
            <a:off x="8302752" y="1325880"/>
            <a:ext cx="3456432" cy="4069080"/>
          </a:xfrm>
          <a:prstGeom prst="roundRect">
            <a:avLst>
              <a:gd name="adj" fmla="val 1587"/>
            </a:avLst>
          </a:prstGeom>
          <a:solidFill>
            <a:srgbClr val="EFF6FF"/>
          </a:solidFill>
          <a:ln w="12700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8513064" y="1572768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b="1" dirty="0">
                <a:solidFill>
                  <a:srgbClr val="2563EB"/>
                </a:solidFill>
              </a:rPr>
              <a:t>Workflow step: Investigation + resolution</a:t>
            </a:r>
            <a:endParaRPr lang="en-US" sz="830" dirty="0"/>
          </a:p>
        </p:txBody>
      </p:sp>
      <p:sp>
        <p:nvSpPr>
          <p:cNvPr id="20" name="Text 18"/>
          <p:cNvSpPr/>
          <p:nvPr/>
        </p:nvSpPr>
        <p:spPr>
          <a:xfrm>
            <a:off x="8513064" y="1984248"/>
            <a:ext cx="2962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0B1F3A"/>
                </a:solidFill>
              </a:rPr>
              <a:t>Answers are inconsistent, generic, or incorrect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8513064" y="278892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64748B"/>
                </a:solidFill>
              </a:rPr>
              <a:t>Complaint evidence</a:t>
            </a:r>
            <a:endParaRPr lang="en-US" sz="920" dirty="0"/>
          </a:p>
        </p:txBody>
      </p:sp>
      <p:sp>
        <p:nvSpPr>
          <p:cNvPr id="22" name="Text 20"/>
          <p:cNvSpPr/>
          <p:nvPr/>
        </p:nvSpPr>
        <p:spPr>
          <a:xfrm>
            <a:off x="8513064" y="3063240"/>
            <a:ext cx="2980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172033"/>
                </a:solidFill>
              </a:rPr>
              <a:t>Complaints mention conflicting information, irrelevant troubleshooting, generic replies, outdated resources, and agents lacking product knowledge.</a:t>
            </a:r>
            <a:endParaRPr lang="en-US" sz="980" dirty="0"/>
          </a:p>
        </p:txBody>
      </p:sp>
      <p:sp>
        <p:nvSpPr>
          <p:cNvPr id="23" name="Text 21"/>
          <p:cNvSpPr/>
          <p:nvPr/>
        </p:nvSpPr>
        <p:spPr>
          <a:xfrm>
            <a:off x="8513064" y="406908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64748B"/>
                </a:solidFill>
              </a:rPr>
              <a:t>Business impact</a:t>
            </a:r>
            <a:endParaRPr lang="en-US" sz="920" dirty="0"/>
          </a:p>
        </p:txBody>
      </p:sp>
      <p:sp>
        <p:nvSpPr>
          <p:cNvPr id="24" name="Text 22"/>
          <p:cNvSpPr/>
          <p:nvPr/>
        </p:nvSpPr>
        <p:spPr>
          <a:xfrm>
            <a:off x="8513064" y="4343400"/>
            <a:ext cx="2971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172033"/>
                </a:solidFill>
              </a:rPr>
              <a:t>Reduces first-contact resolution and damages trust.</a:t>
            </a:r>
            <a:endParaRPr lang="en-US" sz="104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1809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Recommended AI Solutions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8046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dirty="0">
                <a:solidFill>
                  <a:srgbClr val="64748B"/>
                </a:solidFill>
              </a:rPr>
              <a:t>Each AI solution is tied to a complaint-backed workflow problem.</a:t>
            </a:r>
            <a:endParaRPr lang="en-US" sz="1220" dirty="0"/>
          </a:p>
        </p:txBody>
      </p:sp>
      <p:sp>
        <p:nvSpPr>
          <p:cNvPr id="4" name="Shape 2"/>
          <p:cNvSpPr/>
          <p:nvPr/>
        </p:nvSpPr>
        <p:spPr>
          <a:xfrm>
            <a:off x="685800" y="1325880"/>
            <a:ext cx="10835640" cy="45720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96112" y="1481328"/>
            <a:ext cx="2514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FFFFFF"/>
                </a:solidFill>
              </a:rPr>
              <a:t>Problem</a:t>
            </a:r>
            <a:endParaRPr lang="en-US" sz="980" dirty="0"/>
          </a:p>
        </p:txBody>
      </p:sp>
      <p:sp>
        <p:nvSpPr>
          <p:cNvPr id="6" name="Text 4"/>
          <p:cNvSpPr/>
          <p:nvPr/>
        </p:nvSpPr>
        <p:spPr>
          <a:xfrm>
            <a:off x="3730752" y="1481328"/>
            <a:ext cx="23317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FFFFFF"/>
                </a:solidFill>
              </a:rPr>
              <a:t>AI solution</a:t>
            </a:r>
            <a:endParaRPr lang="en-US" sz="980" dirty="0"/>
          </a:p>
        </p:txBody>
      </p:sp>
      <p:sp>
        <p:nvSpPr>
          <p:cNvPr id="7" name="Text 5"/>
          <p:cNvSpPr/>
          <p:nvPr/>
        </p:nvSpPr>
        <p:spPr>
          <a:xfrm>
            <a:off x="6446520" y="1481328"/>
            <a:ext cx="47091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FFFFFF"/>
                </a:solidFill>
              </a:rPr>
              <a:t>How it helps</a:t>
            </a:r>
            <a:endParaRPr lang="en-US" sz="980" dirty="0"/>
          </a:p>
        </p:txBody>
      </p:sp>
      <p:sp>
        <p:nvSpPr>
          <p:cNvPr id="8" name="Shape 6"/>
          <p:cNvSpPr/>
          <p:nvPr/>
        </p:nvSpPr>
        <p:spPr>
          <a:xfrm>
            <a:off x="685800" y="1920240"/>
            <a:ext cx="1083564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96112" y="2066544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172033"/>
                </a:solidFill>
              </a:rPr>
              <a:t>Slow updates and wait times</a:t>
            </a:r>
            <a:endParaRPr lang="en-US" sz="980" dirty="0"/>
          </a:p>
        </p:txBody>
      </p:sp>
      <p:sp>
        <p:nvSpPr>
          <p:cNvPr id="10" name="Text 8"/>
          <p:cNvSpPr/>
          <p:nvPr/>
        </p:nvSpPr>
        <p:spPr>
          <a:xfrm>
            <a:off x="3730752" y="2066544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60" b="1" dirty="0">
                <a:solidFill>
                  <a:srgbClr val="16A34A"/>
                </a:solidFill>
              </a:rPr>
              <a:t>Intercom Fin (conversational AI agent + proactive updates)</a:t>
            </a:r>
            <a:endParaRPr lang="en-US" sz="1060" dirty="0"/>
          </a:p>
        </p:txBody>
      </p:sp>
      <p:sp>
        <p:nvSpPr>
          <p:cNvPr id="11" name="Text 9"/>
          <p:cNvSpPr/>
          <p:nvPr/>
        </p:nvSpPr>
        <p:spPr>
          <a:xfrm>
            <a:off x="6446520" y="2066544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172033"/>
                </a:solidFill>
              </a:rPr>
              <a:t>Provides instant acknowledgements, FAQs, estimated timelines, callback reminders, and proactive case updates.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685800" y="2779776"/>
            <a:ext cx="10835640" cy="658368"/>
          </a:xfrm>
          <a:prstGeom prst="round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96112" y="2926080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172033"/>
                </a:solidFill>
              </a:rPr>
              <a:t>Lost context and repeat information</a:t>
            </a:r>
            <a:endParaRPr lang="en-US" sz="980" dirty="0"/>
          </a:p>
        </p:txBody>
      </p:sp>
      <p:sp>
        <p:nvSpPr>
          <p:cNvPr id="14" name="Text 12"/>
          <p:cNvSpPr/>
          <p:nvPr/>
        </p:nvSpPr>
        <p:spPr>
          <a:xfrm>
            <a:off x="3730752" y="292608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60" b="1" dirty="0">
                <a:solidFill>
                  <a:srgbClr val="16A34A"/>
                </a:solidFill>
              </a:rPr>
              <a:t>Salesforce Einstein (case creation + case summaries)</a:t>
            </a:r>
            <a:endParaRPr lang="en-US" sz="1060" dirty="0"/>
          </a:p>
        </p:txBody>
      </p:sp>
      <p:sp>
        <p:nvSpPr>
          <p:cNvPr id="15" name="Text 13"/>
          <p:cNvSpPr/>
          <p:nvPr/>
        </p:nvSpPr>
        <p:spPr>
          <a:xfrm>
            <a:off x="6446520" y="2926080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172033"/>
                </a:solidFill>
              </a:rPr>
              <a:t>Captures customer details once, summarizes prior interactions, and makes the full context visible to the next agent.</a:t>
            </a:r>
            <a:endParaRPr lang="en-US" sz="980" dirty="0"/>
          </a:p>
        </p:txBody>
      </p:sp>
      <p:sp>
        <p:nvSpPr>
          <p:cNvPr id="16" name="Shape 14"/>
          <p:cNvSpPr/>
          <p:nvPr/>
        </p:nvSpPr>
        <p:spPr>
          <a:xfrm>
            <a:off x="685800" y="3639312"/>
            <a:ext cx="1083564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96112" y="3785616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172033"/>
                </a:solidFill>
              </a:rPr>
              <a:t>Incorrect, inconsistent, or generic answers</a:t>
            </a:r>
            <a:endParaRPr lang="en-US" sz="980" dirty="0"/>
          </a:p>
        </p:txBody>
      </p:sp>
      <p:sp>
        <p:nvSpPr>
          <p:cNvPr id="18" name="Text 16"/>
          <p:cNvSpPr/>
          <p:nvPr/>
        </p:nvSpPr>
        <p:spPr>
          <a:xfrm>
            <a:off x="3730752" y="3785616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60" b="1" dirty="0">
                <a:solidFill>
                  <a:srgbClr val="16A34A"/>
                </a:solidFill>
              </a:rPr>
              <a:t>Microsoft Copilot for Service (RAG knowledge assistant)</a:t>
            </a:r>
            <a:endParaRPr lang="en-US" sz="1060" dirty="0"/>
          </a:p>
        </p:txBody>
      </p:sp>
      <p:sp>
        <p:nvSpPr>
          <p:cNvPr id="19" name="Text 17"/>
          <p:cNvSpPr/>
          <p:nvPr/>
        </p:nvSpPr>
        <p:spPr>
          <a:xfrm>
            <a:off x="6446520" y="3785616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172033"/>
                </a:solidFill>
              </a:rPr>
              <a:t>Suggests approved answers from the knowledge base, flags outdated articles, and recommends next steps to CSRs.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685800" y="4498848"/>
            <a:ext cx="10835640" cy="658368"/>
          </a:xfrm>
          <a:prstGeom prst="round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896112" y="4645152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172033"/>
                </a:solidFill>
              </a:rPr>
              <a:t>Wrong transfers and assignment delays</a:t>
            </a:r>
            <a:endParaRPr lang="en-US" sz="980" dirty="0"/>
          </a:p>
        </p:txBody>
      </p:sp>
      <p:sp>
        <p:nvSpPr>
          <p:cNvPr id="22" name="Text 20"/>
          <p:cNvSpPr/>
          <p:nvPr/>
        </p:nvSpPr>
        <p:spPr>
          <a:xfrm>
            <a:off x="3730752" y="46451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60" b="1" dirty="0">
                <a:solidFill>
                  <a:srgbClr val="16A34A"/>
                </a:solidFill>
              </a:rPr>
              <a:t>Salesforce Einstein Automatic Routing Engine</a:t>
            </a:r>
            <a:endParaRPr lang="en-US" sz="1060" dirty="0"/>
          </a:p>
        </p:txBody>
      </p:sp>
      <p:sp>
        <p:nvSpPr>
          <p:cNvPr id="23" name="Text 21"/>
          <p:cNvSpPr/>
          <p:nvPr/>
        </p:nvSpPr>
        <p:spPr>
          <a:xfrm>
            <a:off x="6446520" y="4645152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172033"/>
                </a:solidFill>
              </a:rPr>
              <a:t>Routes tickets by issue type, urgency, customer history, CSR expertise, and workload.</a:t>
            </a:r>
            <a:endParaRPr lang="en-US" sz="980" dirty="0"/>
          </a:p>
        </p:txBody>
      </p:sp>
      <p:sp>
        <p:nvSpPr>
          <p:cNvPr id="24" name="Shape 22"/>
          <p:cNvSpPr/>
          <p:nvPr/>
        </p:nvSpPr>
        <p:spPr>
          <a:xfrm>
            <a:off x="1005840" y="5532120"/>
            <a:ext cx="10104120" cy="438912"/>
          </a:xfrm>
          <a:prstGeom prst="roundRect">
            <a:avLst>
              <a:gd name="adj" fmla="val 12500"/>
            </a:avLst>
          </a:prstGeom>
          <a:solidFill>
            <a:srgbClr val="EEF8FF"/>
          </a:solidFill>
          <a:ln w="12700">
            <a:solidFill>
              <a:srgbClr val="B6E4F7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1216152" y="5678424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0B1F3A"/>
                </a:solidFill>
              </a:rPr>
              <a:t>Human oversight: Complex complaints, refunds, account-sensitive cases, and policy exceptions should still be handled or approved by trained support staff.</a:t>
            </a:r>
            <a:endParaRPr lang="en-US" sz="10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1809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Updated AI-Enhanced Workflow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8046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dirty="0">
                <a:solidFill>
                  <a:srgbClr val="64748B"/>
                </a:solidFill>
              </a:rPr>
              <a:t>The new workflow automates repetitive work while keeping humans responsible for complex decisions.</a:t>
            </a:r>
            <a:endParaRPr lang="en-US" sz="1220" dirty="0"/>
          </a:p>
        </p:txBody>
      </p:sp>
      <p:sp>
        <p:nvSpPr>
          <p:cNvPr id="4" name="Shape 2"/>
          <p:cNvSpPr/>
          <p:nvPr/>
        </p:nvSpPr>
        <p:spPr>
          <a:xfrm>
            <a:off x="1938528" y="1773936"/>
            <a:ext cx="173736" cy="164592"/>
          </a:xfrm>
          <a:prstGeom prst="rightArrow">
            <a:avLst/>
          </a:prstGeom>
          <a:solidFill>
            <a:srgbClr val="A8B8CC"/>
          </a:solidFill>
          <a:ln w="12700">
            <a:solidFill>
              <a:srgbClr val="A8B8CC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511296" y="1773936"/>
            <a:ext cx="173736" cy="164592"/>
          </a:xfrm>
          <a:prstGeom prst="rightArrow">
            <a:avLst/>
          </a:prstGeom>
          <a:solidFill>
            <a:srgbClr val="A8B8CC"/>
          </a:solidFill>
          <a:ln w="12700">
            <a:solidFill>
              <a:srgbClr val="A8B8CC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084064" y="1773936"/>
            <a:ext cx="173736" cy="164592"/>
          </a:xfrm>
          <a:prstGeom prst="rightArrow">
            <a:avLst/>
          </a:prstGeom>
          <a:solidFill>
            <a:srgbClr val="A8B8CC"/>
          </a:solidFill>
          <a:ln w="12700">
            <a:solidFill>
              <a:srgbClr val="A8B8CC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656832" y="1773936"/>
            <a:ext cx="173736" cy="164592"/>
          </a:xfrm>
          <a:prstGeom prst="rightArrow">
            <a:avLst/>
          </a:prstGeom>
          <a:solidFill>
            <a:srgbClr val="A8B8CC"/>
          </a:solidFill>
          <a:ln w="12700">
            <a:solidFill>
              <a:srgbClr val="A8B8CC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8229600" y="1773936"/>
            <a:ext cx="173736" cy="164592"/>
          </a:xfrm>
          <a:prstGeom prst="rightArrow">
            <a:avLst/>
          </a:prstGeom>
          <a:solidFill>
            <a:srgbClr val="A8B8CC"/>
          </a:solidFill>
          <a:ln w="12700">
            <a:solidFill>
              <a:srgbClr val="A8B8CC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9802368" y="1773936"/>
            <a:ext cx="173736" cy="164592"/>
          </a:xfrm>
          <a:prstGeom prst="rightArrow">
            <a:avLst/>
          </a:prstGeom>
          <a:solidFill>
            <a:srgbClr val="A8B8CC"/>
          </a:solidFill>
          <a:ln w="12700">
            <a:solidFill>
              <a:srgbClr val="A8B8CC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566928" y="1417320"/>
            <a:ext cx="13258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" y="1490472"/>
            <a:ext cx="11978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2563EB"/>
                </a:solidFill>
              </a:rPr>
              <a:t>Customer</a:t>
            </a:r>
            <a:endParaRPr lang="en-US" sz="780" dirty="0"/>
          </a:p>
        </p:txBody>
      </p:sp>
      <p:sp>
        <p:nvSpPr>
          <p:cNvPr id="12" name="Text 10"/>
          <p:cNvSpPr/>
          <p:nvPr/>
        </p:nvSpPr>
        <p:spPr>
          <a:xfrm>
            <a:off x="658368" y="1673352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172033"/>
                </a:solidFill>
              </a:rPr>
              <a:t>Submits inquiry</a:t>
            </a:r>
            <a:endParaRPr lang="en-US" sz="830" dirty="0"/>
          </a:p>
        </p:txBody>
      </p:sp>
      <p:sp>
        <p:nvSpPr>
          <p:cNvPr id="13" name="Shape 11"/>
          <p:cNvSpPr/>
          <p:nvPr/>
        </p:nvSpPr>
        <p:spPr>
          <a:xfrm>
            <a:off x="2139696" y="1417320"/>
            <a:ext cx="1325880" cy="914400"/>
          </a:xfrm>
          <a:prstGeom prst="roundRect">
            <a:avLst>
              <a:gd name="adj" fmla="val 6000"/>
            </a:avLst>
          </a:prstGeom>
          <a:solidFill>
            <a:srgbClr val="EAF7EF"/>
          </a:solidFill>
          <a:ln w="12700">
            <a:solidFill>
              <a:srgbClr val="8BD5A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2203704" y="1490472"/>
            <a:ext cx="11978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6A34A"/>
                </a:solidFill>
              </a:rPr>
              <a:t>Salesforce Einstein</a:t>
            </a:r>
            <a:endParaRPr lang="en-US" sz="780" dirty="0"/>
          </a:p>
        </p:txBody>
      </p:sp>
      <p:sp>
        <p:nvSpPr>
          <p:cNvPr id="15" name="Text 13"/>
          <p:cNvSpPr/>
          <p:nvPr/>
        </p:nvSpPr>
        <p:spPr>
          <a:xfrm>
            <a:off x="2231136" y="1673352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172033"/>
                </a:solidFill>
              </a:rPr>
              <a:t>Classifies inquiry and detects urgency</a:t>
            </a:r>
            <a:endParaRPr lang="en-US" sz="830" dirty="0"/>
          </a:p>
        </p:txBody>
      </p:sp>
      <p:sp>
        <p:nvSpPr>
          <p:cNvPr id="16" name="Shape 14"/>
          <p:cNvSpPr/>
          <p:nvPr/>
        </p:nvSpPr>
        <p:spPr>
          <a:xfrm>
            <a:off x="3712464" y="1417320"/>
            <a:ext cx="1325880" cy="914400"/>
          </a:xfrm>
          <a:prstGeom prst="roundRect">
            <a:avLst>
              <a:gd name="adj" fmla="val 6000"/>
            </a:avLst>
          </a:prstGeom>
          <a:solidFill>
            <a:srgbClr val="EAF7EF"/>
          </a:solidFill>
          <a:ln w="12700">
            <a:solidFill>
              <a:srgbClr val="8BD5A3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3776472" y="1490472"/>
            <a:ext cx="11978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6A34A"/>
                </a:solidFill>
              </a:rPr>
              <a:t>Salesforce Einstein</a:t>
            </a:r>
            <a:endParaRPr lang="en-US" sz="780" dirty="0"/>
          </a:p>
        </p:txBody>
      </p:sp>
      <p:sp>
        <p:nvSpPr>
          <p:cNvPr id="18" name="Text 16"/>
          <p:cNvSpPr/>
          <p:nvPr/>
        </p:nvSpPr>
        <p:spPr>
          <a:xfrm>
            <a:off x="3803904" y="1673352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172033"/>
                </a:solidFill>
              </a:rPr>
              <a:t>Creates ticket + summarizes customer context</a:t>
            </a:r>
            <a:endParaRPr lang="en-US" sz="830" dirty="0"/>
          </a:p>
        </p:txBody>
      </p:sp>
      <p:sp>
        <p:nvSpPr>
          <p:cNvPr id="19" name="Shape 17"/>
          <p:cNvSpPr/>
          <p:nvPr/>
        </p:nvSpPr>
        <p:spPr>
          <a:xfrm>
            <a:off x="5285232" y="1417320"/>
            <a:ext cx="1325880" cy="914400"/>
          </a:xfrm>
          <a:prstGeom prst="roundRect">
            <a:avLst>
              <a:gd name="adj" fmla="val 6000"/>
            </a:avLst>
          </a:prstGeom>
          <a:solidFill>
            <a:srgbClr val="EAF7EF"/>
          </a:solidFill>
          <a:ln w="12700">
            <a:solidFill>
              <a:srgbClr val="8BD5A3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349240" y="1490472"/>
            <a:ext cx="11978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6A34A"/>
                </a:solidFill>
              </a:rPr>
              <a:t>Salesforce Einstein</a:t>
            </a:r>
            <a:endParaRPr lang="en-US" sz="780" dirty="0"/>
          </a:p>
        </p:txBody>
      </p:sp>
      <p:sp>
        <p:nvSpPr>
          <p:cNvPr id="21" name="Text 19"/>
          <p:cNvSpPr/>
          <p:nvPr/>
        </p:nvSpPr>
        <p:spPr>
          <a:xfrm>
            <a:off x="5376672" y="1673352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172033"/>
                </a:solidFill>
              </a:rPr>
              <a:t>Routes ticket to best owner</a:t>
            </a:r>
            <a:endParaRPr lang="en-US" sz="830" dirty="0"/>
          </a:p>
        </p:txBody>
      </p:sp>
      <p:sp>
        <p:nvSpPr>
          <p:cNvPr id="22" name="Shape 20"/>
          <p:cNvSpPr/>
          <p:nvPr/>
        </p:nvSpPr>
        <p:spPr>
          <a:xfrm>
            <a:off x="6858000" y="1417320"/>
            <a:ext cx="1325880" cy="914400"/>
          </a:xfrm>
          <a:prstGeom prst="roundRect">
            <a:avLst>
              <a:gd name="adj" fmla="val 6000"/>
            </a:avLst>
          </a:prstGeom>
          <a:solidFill>
            <a:srgbClr val="EAF7EF"/>
          </a:solidFill>
          <a:ln w="12700">
            <a:solidFill>
              <a:srgbClr val="8BD5A3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922008" y="1490472"/>
            <a:ext cx="11978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6A34A"/>
                </a:solidFill>
              </a:rPr>
              <a:t>CSR</a:t>
            </a:r>
            <a:endParaRPr lang="en-US" sz="780" dirty="0"/>
          </a:p>
        </p:txBody>
      </p:sp>
      <p:sp>
        <p:nvSpPr>
          <p:cNvPr id="24" name="Text 22"/>
          <p:cNvSpPr/>
          <p:nvPr/>
        </p:nvSpPr>
        <p:spPr>
          <a:xfrm>
            <a:off x="6949440" y="1673352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172033"/>
                </a:solidFill>
              </a:rPr>
              <a:t>Uses Microsoft Copilot for Service to resolve issue</a:t>
            </a:r>
            <a:endParaRPr lang="en-US" sz="830" dirty="0"/>
          </a:p>
        </p:txBody>
      </p:sp>
      <p:sp>
        <p:nvSpPr>
          <p:cNvPr id="25" name="Shape 23"/>
          <p:cNvSpPr/>
          <p:nvPr/>
        </p:nvSpPr>
        <p:spPr>
          <a:xfrm>
            <a:off x="8430768" y="1417320"/>
            <a:ext cx="1325880" cy="914400"/>
          </a:xfrm>
          <a:prstGeom prst="roundRect">
            <a:avLst>
              <a:gd name="adj" fmla="val 6000"/>
            </a:avLst>
          </a:prstGeom>
          <a:solidFill>
            <a:srgbClr val="EAF7EF"/>
          </a:solidFill>
          <a:ln w="12700">
            <a:solidFill>
              <a:srgbClr val="8BD5A3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8494776" y="1490472"/>
            <a:ext cx="11978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6A34A"/>
                </a:solidFill>
              </a:rPr>
              <a:t>Intercom Fin + Human</a:t>
            </a:r>
            <a:endParaRPr lang="en-US" sz="780" dirty="0"/>
          </a:p>
        </p:txBody>
      </p:sp>
      <p:sp>
        <p:nvSpPr>
          <p:cNvPr id="27" name="Text 25"/>
          <p:cNvSpPr/>
          <p:nvPr/>
        </p:nvSpPr>
        <p:spPr>
          <a:xfrm>
            <a:off x="8522208" y="1673352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172033"/>
                </a:solidFill>
              </a:rPr>
              <a:t>Sends updates; escalates when needed</a:t>
            </a:r>
            <a:endParaRPr lang="en-US" sz="830" dirty="0"/>
          </a:p>
        </p:txBody>
      </p:sp>
      <p:sp>
        <p:nvSpPr>
          <p:cNvPr id="28" name="Shape 26"/>
          <p:cNvSpPr/>
          <p:nvPr/>
        </p:nvSpPr>
        <p:spPr>
          <a:xfrm>
            <a:off x="10003536" y="1417320"/>
            <a:ext cx="1325880" cy="914400"/>
          </a:xfrm>
          <a:prstGeom prst="roundRect">
            <a:avLst>
              <a:gd name="adj" fmla="val 6000"/>
            </a:avLst>
          </a:prstGeom>
          <a:solidFill>
            <a:srgbClr val="EAF7EF"/>
          </a:solidFill>
          <a:ln w="12700">
            <a:solidFill>
              <a:srgbClr val="8BD5A3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10067544" y="1490472"/>
            <a:ext cx="11978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6A34A"/>
                </a:solidFill>
              </a:rPr>
              <a:t>Salesforce Einstein</a:t>
            </a:r>
            <a:endParaRPr lang="en-US" sz="780" dirty="0"/>
          </a:p>
        </p:txBody>
      </p:sp>
      <p:sp>
        <p:nvSpPr>
          <p:cNvPr id="30" name="Text 28"/>
          <p:cNvSpPr/>
          <p:nvPr/>
        </p:nvSpPr>
        <p:spPr>
          <a:xfrm>
            <a:off x="10094976" y="1673352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172033"/>
                </a:solidFill>
              </a:rPr>
              <a:t>Sends survey + summarizes trends</a:t>
            </a:r>
            <a:endParaRPr lang="en-US" sz="830" dirty="0"/>
          </a:p>
        </p:txBody>
      </p:sp>
      <p:sp>
        <p:nvSpPr>
          <p:cNvPr id="31" name="Shape 29"/>
          <p:cNvSpPr/>
          <p:nvPr/>
        </p:nvSpPr>
        <p:spPr>
          <a:xfrm>
            <a:off x="841248" y="3611880"/>
            <a:ext cx="5257800" cy="1353312"/>
          </a:xfrm>
          <a:prstGeom prst="roundRect">
            <a:avLst>
              <a:gd name="adj" fmla="val 4054"/>
            </a:avLst>
          </a:prstGeom>
          <a:solidFill>
            <a:srgbClr val="F8FAFC"/>
          </a:solidFill>
          <a:ln w="12700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1069848" y="382219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A34A"/>
                </a:solidFill>
              </a:rPr>
              <a:t>Automated or AI-assisted tasks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069848" y="4206240"/>
            <a:ext cx="470916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72033"/>
                </a:solidFill>
              </a:rPr>
              <a:t>• Ticket classification and field creation
</a:t>
            </a:r>
            <a:pPr indent="0" marL="0">
              <a:buNone/>
            </a:pPr>
            <a:r>
              <a:rPr lang="en-US" sz="1050" dirty="0">
                <a:solidFill>
                  <a:srgbClr val="172033"/>
                </a:solidFill>
              </a:rPr>
              <a:t>• Customer history summarization
</a:t>
            </a:r>
            <a:pPr indent="0" marL="0">
              <a:buNone/>
            </a:pPr>
            <a:r>
              <a:rPr lang="en-US" sz="1050" dirty="0">
                <a:solidFill>
                  <a:srgbClr val="172033"/>
                </a:solidFill>
              </a:rPr>
              <a:t>• Routing and prioritization
</a:t>
            </a:r>
            <a:pPr indent="0" marL="0">
              <a:buNone/>
            </a:pPr>
            <a:r>
              <a:rPr lang="en-US" sz="1050" dirty="0">
                <a:solidFill>
                  <a:srgbClr val="172033"/>
                </a:solidFill>
              </a:rPr>
              <a:t>• Status updates and survey analysis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327648" y="3611880"/>
            <a:ext cx="5257800" cy="1353312"/>
          </a:xfrm>
          <a:prstGeom prst="roundRect">
            <a:avLst>
              <a:gd name="adj" fmla="val 4054"/>
            </a:avLst>
          </a:prstGeom>
          <a:solidFill>
            <a:srgbClr val="F8FAFC"/>
          </a:solidFill>
          <a:ln w="12700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6556248" y="382219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</a:rPr>
              <a:t>Human-driven tasks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556248" y="4206240"/>
            <a:ext cx="466344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72033"/>
                </a:solidFill>
              </a:rPr>
              <a:t>• Complex troubleshooting and judgment calls
</a:t>
            </a:r>
            <a:pPr indent="0" marL="0">
              <a:buNone/>
            </a:pPr>
            <a:r>
              <a:rPr lang="en-US" sz="1050" dirty="0">
                <a:solidFill>
                  <a:srgbClr val="172033"/>
                </a:solidFill>
              </a:rPr>
              <a:t>• Refunds, sensitive cases, and policy exceptions
</a:t>
            </a:r>
            <a:pPr indent="0" marL="0">
              <a:buNone/>
            </a:pPr>
            <a:r>
              <a:rPr lang="en-US" sz="1050" dirty="0">
                <a:solidFill>
                  <a:srgbClr val="172033"/>
                </a:solidFill>
              </a:rPr>
              <a:t>• Escalations requiring specialized expertise
</a:t>
            </a:r>
            <a:pPr indent="0" marL="0">
              <a:buNone/>
            </a:pPr>
            <a:r>
              <a:rPr lang="en-US" sz="1050" dirty="0">
                <a:solidFill>
                  <a:srgbClr val="172033"/>
                </a:solidFill>
              </a:rPr>
              <a:t>• Final customer relationship management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1809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Expected Improvements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8046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dirty="0">
                <a:solidFill>
                  <a:srgbClr val="64748B"/>
                </a:solidFill>
              </a:rPr>
              <a:t>The solution addresses the most common complaint themes and improves the customer support experience.</a:t>
            </a:r>
            <a:endParaRPr lang="en-US" sz="1220" dirty="0"/>
          </a:p>
        </p:txBody>
      </p:sp>
      <p:sp>
        <p:nvSpPr>
          <p:cNvPr id="4" name="Shape 2"/>
          <p:cNvSpPr/>
          <p:nvPr/>
        </p:nvSpPr>
        <p:spPr>
          <a:xfrm>
            <a:off x="777240" y="1417320"/>
            <a:ext cx="516636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996696" y="1682496"/>
            <a:ext cx="512064" cy="512064"/>
          </a:xfrm>
          <a:prstGeom prst="ellipse">
            <a:avLst/>
          </a:prstGeom>
          <a:solidFill>
            <a:srgbClr val="16A34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96696" y="1792224"/>
            <a:ext cx="5120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1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1691640" y="170992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1F3A"/>
                </a:solidFill>
              </a:rPr>
              <a:t>Reduced response delays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1691640" y="2075688"/>
            <a:ext cx="3913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dirty="0">
                <a:solidFill>
                  <a:srgbClr val="172033"/>
                </a:solidFill>
              </a:rPr>
              <a:t>Salesforce Einstein intake and routing, plus Intercom Fin acknowledgements, shorten the time between customer contact and useful action.</a:t>
            </a:r>
            <a:endParaRPr lang="en-US" sz="1040" dirty="0"/>
          </a:p>
        </p:txBody>
      </p:sp>
      <p:sp>
        <p:nvSpPr>
          <p:cNvPr id="9" name="Shape 7"/>
          <p:cNvSpPr/>
          <p:nvPr/>
        </p:nvSpPr>
        <p:spPr>
          <a:xfrm>
            <a:off x="777240" y="3063240"/>
            <a:ext cx="516636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96696" y="3328416"/>
            <a:ext cx="512064" cy="512064"/>
          </a:xfrm>
          <a:prstGeom prst="ellipse">
            <a:avLst/>
          </a:prstGeom>
          <a:solidFill>
            <a:srgbClr val="256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996696" y="3438144"/>
            <a:ext cx="5120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2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691640" y="335584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1F3A"/>
                </a:solidFill>
              </a:rPr>
              <a:t>Less repetition for customers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1691640" y="3721608"/>
            <a:ext cx="3913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dirty="0">
                <a:solidFill>
                  <a:srgbClr val="172033"/>
                </a:solidFill>
              </a:rPr>
              <a:t>CRM summaries preserve context so customers do not have to explain the same issue multiple times.</a:t>
            </a:r>
            <a:endParaRPr lang="en-US" sz="1040" dirty="0"/>
          </a:p>
        </p:txBody>
      </p:sp>
      <p:sp>
        <p:nvSpPr>
          <p:cNvPr id="14" name="Shape 12"/>
          <p:cNvSpPr/>
          <p:nvPr/>
        </p:nvSpPr>
        <p:spPr>
          <a:xfrm>
            <a:off x="6263640" y="1417320"/>
            <a:ext cx="516636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483096" y="1682496"/>
            <a:ext cx="512064" cy="512064"/>
          </a:xfrm>
          <a:prstGeom prst="ellipse">
            <a:avLst/>
          </a:prstGeom>
          <a:solidFill>
            <a:srgbClr val="06B6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483096" y="1792224"/>
            <a:ext cx="5120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3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7178040" y="170992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1F3A"/>
                </a:solidFill>
              </a:rPr>
              <a:t>More accurate answers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7178040" y="2075688"/>
            <a:ext cx="3913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dirty="0">
                <a:solidFill>
                  <a:srgbClr val="172033"/>
                </a:solidFill>
              </a:rPr>
              <a:t>Microsoft Copilot for Service gives CSRs approved information and reduces conflicting or generic responses.</a:t>
            </a:r>
            <a:endParaRPr lang="en-US" sz="1040" dirty="0"/>
          </a:p>
        </p:txBody>
      </p:sp>
      <p:sp>
        <p:nvSpPr>
          <p:cNvPr id="19" name="Shape 17"/>
          <p:cNvSpPr/>
          <p:nvPr/>
        </p:nvSpPr>
        <p:spPr>
          <a:xfrm>
            <a:off x="6263640" y="3063240"/>
            <a:ext cx="516636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6483096" y="3328416"/>
            <a:ext cx="512064" cy="51206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483096" y="3438144"/>
            <a:ext cx="5120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4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178040" y="335584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1F3A"/>
                </a:solidFill>
              </a:rPr>
              <a:t>Better customer satisfaction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7178040" y="3721608"/>
            <a:ext cx="3913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dirty="0">
                <a:solidFill>
                  <a:srgbClr val="172033"/>
                </a:solidFill>
              </a:rPr>
              <a:t>Clear updates, faster routing, and better context reduce frustration and repeat contacts.</a:t>
            </a:r>
            <a:endParaRPr lang="en-US" sz="1040" dirty="0"/>
          </a:p>
        </p:txBody>
      </p:sp>
      <p:sp>
        <p:nvSpPr>
          <p:cNvPr id="24" name="Shape 22"/>
          <p:cNvSpPr/>
          <p:nvPr/>
        </p:nvSpPr>
        <p:spPr>
          <a:xfrm>
            <a:off x="1051560" y="5212080"/>
            <a:ext cx="10058400" cy="530352"/>
          </a:xfrm>
          <a:prstGeom prst="roundRect">
            <a:avLst>
              <a:gd name="adj" fmla="val 10345"/>
            </a:avLst>
          </a:prstGeom>
          <a:solidFill>
            <a:srgbClr val="EAF7EF"/>
          </a:solidFill>
          <a:ln w="12700">
            <a:solidFill>
              <a:srgbClr val="8BD5A3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1298448" y="5404104"/>
            <a:ext cx="9601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90" b="1" dirty="0">
                <a:solidFill>
                  <a:srgbClr val="0B1F3A"/>
                </a:solidFill>
              </a:rPr>
              <a:t>Success metrics to track: first response time, average resolution time, repeat contact rate, routing accuracy, escalation rate, and customer satisfaction score.</a:t>
            </a:r>
            <a:endParaRPr lang="en-US" sz="109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1809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Risks, Limitations, and Controls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8046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dirty="0">
                <a:solidFill>
                  <a:srgbClr val="64748B"/>
                </a:solidFill>
              </a:rPr>
              <a:t>AI improves the workflow, but safeguards are needed to protect quality and customer trust.</a:t>
            </a:r>
            <a:endParaRPr lang="en-US" sz="1220" dirty="0"/>
          </a:p>
        </p:txBody>
      </p:sp>
      <p:sp>
        <p:nvSpPr>
          <p:cNvPr id="4" name="Text 2"/>
          <p:cNvSpPr/>
          <p:nvPr/>
        </p:nvSpPr>
        <p:spPr>
          <a:xfrm>
            <a:off x="960120" y="1234440"/>
            <a:ext cx="2331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4748B"/>
                </a:solidFill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3931920" y="1234440"/>
            <a:ext cx="2560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4748B"/>
                </a:solidFill>
              </a:rPr>
              <a:t>Why it matters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903720" y="1234440"/>
            <a:ext cx="4206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4748B"/>
                </a:solidFill>
              </a:rPr>
              <a:t>Control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749808" y="1536192"/>
            <a:ext cx="1069848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60120" y="1700784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b="1" dirty="0">
                <a:solidFill>
                  <a:srgbClr val="DC2626"/>
                </a:solidFill>
              </a:rPr>
              <a:t>Incorrect classification</a:t>
            </a:r>
            <a:endParaRPr lang="en-US" sz="1130" dirty="0"/>
          </a:p>
        </p:txBody>
      </p:sp>
      <p:sp>
        <p:nvSpPr>
          <p:cNvPr id="9" name="Text 7"/>
          <p:cNvSpPr/>
          <p:nvPr/>
        </p:nvSpPr>
        <p:spPr>
          <a:xfrm>
            <a:off x="3931920" y="170078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10" dirty="0">
                <a:solidFill>
                  <a:srgbClr val="172033"/>
                </a:solidFill>
              </a:rPr>
              <a:t>AI may misread urgency or issue type.</a:t>
            </a:r>
            <a:endParaRPr lang="en-US" sz="1010" dirty="0"/>
          </a:p>
        </p:txBody>
      </p:sp>
      <p:sp>
        <p:nvSpPr>
          <p:cNvPr id="10" name="Text 8"/>
          <p:cNvSpPr/>
          <p:nvPr/>
        </p:nvSpPr>
        <p:spPr>
          <a:xfrm>
            <a:off x="6903720" y="170078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10" b="1" dirty="0">
                <a:solidFill>
                  <a:srgbClr val="16A34A"/>
                </a:solidFill>
              </a:rPr>
              <a:t>Use confidence thresholds and supervisor review for uncertain tickets.</a:t>
            </a:r>
            <a:endParaRPr lang="en-US" sz="1010" dirty="0"/>
          </a:p>
        </p:txBody>
      </p:sp>
      <p:sp>
        <p:nvSpPr>
          <p:cNvPr id="11" name="Shape 9"/>
          <p:cNvSpPr/>
          <p:nvPr/>
        </p:nvSpPr>
        <p:spPr>
          <a:xfrm>
            <a:off x="749808" y="2560320"/>
            <a:ext cx="10698480" cy="749808"/>
          </a:xfrm>
          <a:prstGeom prst="roundRect">
            <a:avLst>
              <a:gd name="adj" fmla="val 7317"/>
            </a:avLst>
          </a:prstGeom>
          <a:solidFill>
            <a:srgbClr val="F8FAFC"/>
          </a:solidFill>
          <a:ln w="12700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960120" y="2724912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b="1" dirty="0">
                <a:solidFill>
                  <a:srgbClr val="DC2626"/>
                </a:solidFill>
              </a:rPr>
              <a:t>Privacy and data handling</a:t>
            </a:r>
            <a:endParaRPr lang="en-US" sz="1130" dirty="0"/>
          </a:p>
        </p:txBody>
      </p:sp>
      <p:sp>
        <p:nvSpPr>
          <p:cNvPr id="13" name="Text 11"/>
          <p:cNvSpPr/>
          <p:nvPr/>
        </p:nvSpPr>
        <p:spPr>
          <a:xfrm>
            <a:off x="3931920" y="272491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10" dirty="0">
                <a:solidFill>
                  <a:srgbClr val="172033"/>
                </a:solidFill>
              </a:rPr>
              <a:t>Support messages may include sensitive customer information.</a:t>
            </a:r>
            <a:endParaRPr lang="en-US" sz="1010" dirty="0"/>
          </a:p>
        </p:txBody>
      </p:sp>
      <p:sp>
        <p:nvSpPr>
          <p:cNvPr id="14" name="Text 12"/>
          <p:cNvSpPr/>
          <p:nvPr/>
        </p:nvSpPr>
        <p:spPr>
          <a:xfrm>
            <a:off x="6903720" y="272491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10" b="1" dirty="0">
                <a:solidFill>
                  <a:srgbClr val="16A34A"/>
                </a:solidFill>
              </a:rPr>
              <a:t>Limit access, mask sensitive fields, and follow company data policies.</a:t>
            </a:r>
            <a:endParaRPr lang="en-US" sz="1010" dirty="0"/>
          </a:p>
        </p:txBody>
      </p:sp>
      <p:sp>
        <p:nvSpPr>
          <p:cNvPr id="15" name="Shape 13"/>
          <p:cNvSpPr/>
          <p:nvPr/>
        </p:nvSpPr>
        <p:spPr>
          <a:xfrm>
            <a:off x="749808" y="3584448"/>
            <a:ext cx="1069848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60120" y="374904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b="1" dirty="0">
                <a:solidFill>
                  <a:srgbClr val="DC2626"/>
                </a:solidFill>
              </a:rPr>
              <a:t>Poor chatbot experience</a:t>
            </a:r>
            <a:endParaRPr lang="en-US" sz="1130" dirty="0"/>
          </a:p>
        </p:txBody>
      </p:sp>
      <p:sp>
        <p:nvSpPr>
          <p:cNvPr id="17" name="Text 15"/>
          <p:cNvSpPr/>
          <p:nvPr/>
        </p:nvSpPr>
        <p:spPr>
          <a:xfrm>
            <a:off x="3931920" y="37490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10" dirty="0">
                <a:solidFill>
                  <a:srgbClr val="172033"/>
                </a:solidFill>
              </a:rPr>
              <a:t>Customers may get frustrated if they cannot reach a person.</a:t>
            </a:r>
            <a:endParaRPr lang="en-US" sz="1010" dirty="0"/>
          </a:p>
        </p:txBody>
      </p:sp>
      <p:sp>
        <p:nvSpPr>
          <p:cNvPr id="18" name="Text 16"/>
          <p:cNvSpPr/>
          <p:nvPr/>
        </p:nvSpPr>
        <p:spPr>
          <a:xfrm>
            <a:off x="6903720" y="374904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10" b="1" dirty="0">
                <a:solidFill>
                  <a:srgbClr val="16A34A"/>
                </a:solidFill>
              </a:rPr>
              <a:t>Always provide a clear human handoff option.</a:t>
            </a:r>
            <a:endParaRPr lang="en-US" sz="1010" dirty="0"/>
          </a:p>
        </p:txBody>
      </p:sp>
      <p:sp>
        <p:nvSpPr>
          <p:cNvPr id="19" name="Shape 17"/>
          <p:cNvSpPr/>
          <p:nvPr/>
        </p:nvSpPr>
        <p:spPr>
          <a:xfrm>
            <a:off x="749808" y="4608576"/>
            <a:ext cx="10698480" cy="749808"/>
          </a:xfrm>
          <a:prstGeom prst="roundRect">
            <a:avLst>
              <a:gd name="adj" fmla="val 7317"/>
            </a:avLst>
          </a:prstGeom>
          <a:solidFill>
            <a:srgbClr val="F8FAFC"/>
          </a:solidFill>
          <a:ln w="12700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60120" y="477316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b="1" dirty="0">
                <a:solidFill>
                  <a:srgbClr val="DC2626"/>
                </a:solidFill>
              </a:rPr>
              <a:t>Outdated knowledge base</a:t>
            </a:r>
            <a:endParaRPr lang="en-US" sz="1130" dirty="0"/>
          </a:p>
        </p:txBody>
      </p:sp>
      <p:sp>
        <p:nvSpPr>
          <p:cNvPr id="21" name="Text 19"/>
          <p:cNvSpPr/>
          <p:nvPr/>
        </p:nvSpPr>
        <p:spPr>
          <a:xfrm>
            <a:off x="3931920" y="477316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10" dirty="0">
                <a:solidFill>
                  <a:srgbClr val="172033"/>
                </a:solidFill>
              </a:rPr>
              <a:t>AI can only be as useful as the information it uses.</a:t>
            </a:r>
            <a:endParaRPr lang="en-US" sz="1010" dirty="0"/>
          </a:p>
        </p:txBody>
      </p:sp>
      <p:sp>
        <p:nvSpPr>
          <p:cNvPr id="22" name="Text 20"/>
          <p:cNvSpPr/>
          <p:nvPr/>
        </p:nvSpPr>
        <p:spPr>
          <a:xfrm>
            <a:off x="6903720" y="477316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10" b="1" dirty="0">
                <a:solidFill>
                  <a:srgbClr val="16A34A"/>
                </a:solidFill>
              </a:rPr>
              <a:t>Assign owners to maintain articles and flag outdated content.</a:t>
            </a:r>
            <a:endParaRPr lang="en-US" sz="101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1809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Implementation Recommendation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8046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dirty="0">
                <a:solidFill>
                  <a:srgbClr val="64748B"/>
                </a:solidFill>
              </a:rPr>
              <a:t>Start with a controlled pilot, measure results, and then scale the workflow.</a:t>
            </a:r>
            <a:endParaRPr lang="en-US" sz="1220" dirty="0"/>
          </a:p>
        </p:txBody>
      </p:sp>
      <p:sp>
        <p:nvSpPr>
          <p:cNvPr id="4" name="Shape 2"/>
          <p:cNvSpPr/>
          <p:nvPr/>
        </p:nvSpPr>
        <p:spPr>
          <a:xfrm>
            <a:off x="749808" y="1481328"/>
            <a:ext cx="2395728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950976" y="1737360"/>
            <a:ext cx="530352" cy="53035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50976" y="1847088"/>
            <a:ext cx="53035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618488" y="1773936"/>
            <a:ext cx="12344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</a:rPr>
              <a:t>Pilot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78408" y="2487168"/>
            <a:ext cx="19385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172033"/>
                </a:solidFill>
              </a:rPr>
              <a:t>Test AI intake, routing, and knowledge support on one support channel for 2–4 weeks.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3538728" y="1481328"/>
            <a:ext cx="2395728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3739896" y="1737360"/>
            <a:ext cx="530352" cy="53035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739896" y="1847088"/>
            <a:ext cx="53035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407408" y="1773936"/>
            <a:ext cx="12344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</a:rPr>
              <a:t>Measure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767328" y="2487168"/>
            <a:ext cx="19385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172033"/>
                </a:solidFill>
              </a:rPr>
              <a:t>Track response time, resolution time, repeat contacts, CSAT, and routing accuracy.</a:t>
            </a:r>
            <a:endParaRPr lang="en-US" sz="1020" dirty="0"/>
          </a:p>
        </p:txBody>
      </p:sp>
      <p:sp>
        <p:nvSpPr>
          <p:cNvPr id="14" name="Shape 12"/>
          <p:cNvSpPr/>
          <p:nvPr/>
        </p:nvSpPr>
        <p:spPr>
          <a:xfrm>
            <a:off x="6327648" y="1481328"/>
            <a:ext cx="2395728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528816" y="1737360"/>
            <a:ext cx="530352" cy="53035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528816" y="1847088"/>
            <a:ext cx="53035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196328" y="1773936"/>
            <a:ext cx="12344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</a:rPr>
              <a:t>Improve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56248" y="2487168"/>
            <a:ext cx="19385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172033"/>
                </a:solidFill>
              </a:rPr>
              <a:t>Review failed classifications, update knowledge articles, and refine escalation rules.</a:t>
            </a:r>
            <a:endParaRPr lang="en-US" sz="1020" dirty="0"/>
          </a:p>
        </p:txBody>
      </p:sp>
      <p:sp>
        <p:nvSpPr>
          <p:cNvPr id="19" name="Shape 17"/>
          <p:cNvSpPr/>
          <p:nvPr/>
        </p:nvSpPr>
        <p:spPr>
          <a:xfrm>
            <a:off x="9116568" y="1481328"/>
            <a:ext cx="2395728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9317736" y="1737360"/>
            <a:ext cx="530352" cy="53035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9317736" y="1847088"/>
            <a:ext cx="53035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985248" y="1773936"/>
            <a:ext cx="12344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</a:rPr>
              <a:t>Scale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345168" y="2487168"/>
            <a:ext cx="19385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172033"/>
                </a:solidFill>
              </a:rPr>
              <a:t>Expand to additional channels once accuracy and customer experience are stable.</a:t>
            </a:r>
            <a:endParaRPr lang="en-US" sz="1020" dirty="0"/>
          </a:p>
        </p:txBody>
      </p:sp>
      <p:sp>
        <p:nvSpPr>
          <p:cNvPr id="24" name="Shape 22"/>
          <p:cNvSpPr/>
          <p:nvPr/>
        </p:nvSpPr>
        <p:spPr>
          <a:xfrm>
            <a:off x="1005840" y="4343400"/>
            <a:ext cx="10149840" cy="1005840"/>
          </a:xfrm>
          <a:prstGeom prst="roundRect">
            <a:avLst>
              <a:gd name="adj" fmla="val 5455"/>
            </a:avLst>
          </a:prstGeom>
          <a:solidFill>
            <a:srgbClr val="EEF8FF"/>
          </a:solidFill>
          <a:ln w="12700">
            <a:solidFill>
              <a:srgbClr val="B6E4F7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1261872" y="449884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</a:rPr>
              <a:t>Final recommendation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261872" y="4864608"/>
            <a:ext cx="9372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72033"/>
                </a:solidFill>
              </a:rPr>
              <a:t>Use AI for repetitive, measurable workflow tasks, while keeping humans responsible for judgment, sensitive interactions, and final escalation decisions.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1809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Appendix: Complaint Theme Coding Summary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8046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dirty="0">
                <a:solidFill>
                  <a:srgbClr val="64748B"/>
                </a:solidFill>
              </a:rPr>
              <a:t>This slide documents the analysis trail used to connect complaints to workflow problems.</a:t>
            </a:r>
            <a:endParaRPr lang="en-US" sz="1220" dirty="0"/>
          </a:p>
        </p:txBody>
      </p:sp>
      <p:sp>
        <p:nvSpPr>
          <p:cNvPr id="4" name="Shape 2"/>
          <p:cNvSpPr/>
          <p:nvPr/>
        </p:nvSpPr>
        <p:spPr>
          <a:xfrm>
            <a:off x="822960" y="1481328"/>
            <a:ext cx="10469880" cy="438912"/>
          </a:xfrm>
          <a:prstGeom prst="rect">
            <a:avLst/>
          </a:prstGeom>
          <a:solidFill>
            <a:srgbClr val="0B1F3A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87552" y="1618488"/>
            <a:ext cx="2743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FFFFFF"/>
                </a:solidFill>
              </a:rPr>
              <a:t>Workflow problem selected</a:t>
            </a:r>
            <a:endParaRPr lang="en-US" sz="920" dirty="0"/>
          </a:p>
        </p:txBody>
      </p:sp>
      <p:sp>
        <p:nvSpPr>
          <p:cNvPr id="6" name="Text 4"/>
          <p:cNvSpPr/>
          <p:nvPr/>
        </p:nvSpPr>
        <p:spPr>
          <a:xfrm>
            <a:off x="3895344" y="1618488"/>
            <a:ext cx="2743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FFFFFF"/>
                </a:solidFill>
              </a:rPr>
              <a:t>Primary complaint themes used</a:t>
            </a:r>
            <a:endParaRPr lang="en-US" sz="920" dirty="0"/>
          </a:p>
        </p:txBody>
      </p:sp>
      <p:sp>
        <p:nvSpPr>
          <p:cNvPr id="7" name="Text 5"/>
          <p:cNvSpPr/>
          <p:nvPr/>
        </p:nvSpPr>
        <p:spPr>
          <a:xfrm>
            <a:off x="6803136" y="1618488"/>
            <a:ext cx="3977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FFFFFF"/>
                </a:solidFill>
              </a:rPr>
              <a:t>Examples of complaint language reviewed</a:t>
            </a:r>
            <a:endParaRPr lang="en-US" sz="920" dirty="0"/>
          </a:p>
        </p:txBody>
      </p:sp>
      <p:sp>
        <p:nvSpPr>
          <p:cNvPr id="8" name="Shape 6"/>
          <p:cNvSpPr/>
          <p:nvPr/>
        </p:nvSpPr>
        <p:spPr>
          <a:xfrm>
            <a:off x="822960" y="1920240"/>
            <a:ext cx="10469880" cy="1078992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87552" y="2139696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72033"/>
                </a:solidFill>
              </a:rPr>
              <a:t>Slow response / poor updates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895344" y="2139696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2033"/>
                </a:solidFill>
              </a:rPr>
              <a:t>Delays, long waits, no callbacks, no timeline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803136" y="2139696"/>
            <a:ext cx="3977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2033"/>
                </a:solidFill>
              </a:rPr>
              <a:t>Long hold times; slow email support; promised callback never happened; no information on next steps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22960" y="2999232"/>
            <a:ext cx="10469880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987552" y="3218688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72033"/>
                </a:solidFill>
              </a:rPr>
              <a:t>Lost customer context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895344" y="3218688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2033"/>
                </a:solidFill>
              </a:rPr>
              <a:t>Repeated info, transfers, disconnected chats, no access to past interactions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803136" y="3218688"/>
            <a:ext cx="3977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2033"/>
                </a:solidFill>
              </a:rPr>
              <a:t>Transferred multiple times; repeat same information; lost chat progress; previous support interactions unavailable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22960" y="4078224"/>
            <a:ext cx="10469880" cy="1078992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987552" y="4297680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72033"/>
                </a:solidFill>
              </a:rPr>
              <a:t>Low-quality resolution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895344" y="4297680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2033"/>
                </a:solidFill>
              </a:rPr>
              <a:t>Incorrect answers, generic responses, outdated resources, irrelevant troubleshooting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803136" y="4297680"/>
            <a:ext cx="3977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2033"/>
                </a:solidFill>
              </a:rPr>
              <a:t>Conflicting information; generic response; outdated support resources; troubleshooting did not match issue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5800" y="6053328"/>
            <a:ext cx="10744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4748B"/>
                </a:solidFill>
              </a:rPr>
              <a:t>Note: The complaint list was used as the evidence base for the workflow problems and recommendations.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1809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TripleTen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AI-Powered Customer Support Workflow – Jason Teixeira</dc:title>
  <dc:subject>AI-Powered Customer Support Workflow</dc:subject>
  <dc:creator>Jason Teixeira</dc:creator>
  <cp:lastModifiedBy>Jason Teixeira</cp:lastModifiedBy>
  <cp:revision>1</cp:revision>
  <dcterms:created xsi:type="dcterms:W3CDTF">2026-07-19T15:42:22Z</dcterms:created>
  <dcterms:modified xsi:type="dcterms:W3CDTF">2026-07-19T15:42:22Z</dcterms:modified>
</cp:coreProperties>
</file>